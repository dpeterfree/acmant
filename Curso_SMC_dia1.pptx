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30"/>
  </p:notesMasterIdLst>
  <p:sldIdLst>
    <p:sldId id="274" r:id="rId3"/>
    <p:sldId id="273" r:id="rId4"/>
    <p:sldId id="304" r:id="rId5"/>
    <p:sldId id="275" r:id="rId6"/>
    <p:sldId id="276" r:id="rId7"/>
    <p:sldId id="277" r:id="rId8"/>
    <p:sldId id="300" r:id="rId9"/>
    <p:sldId id="278" r:id="rId10"/>
    <p:sldId id="280" r:id="rId11"/>
    <p:sldId id="301" r:id="rId12"/>
    <p:sldId id="281" r:id="rId13"/>
    <p:sldId id="282" r:id="rId14"/>
    <p:sldId id="286" r:id="rId15"/>
    <p:sldId id="303" r:id="rId16"/>
    <p:sldId id="295" r:id="rId17"/>
    <p:sldId id="296" r:id="rId18"/>
    <p:sldId id="297" r:id="rId19"/>
    <p:sldId id="299" r:id="rId20"/>
    <p:sldId id="298" r:id="rId21"/>
    <p:sldId id="287" r:id="rId22"/>
    <p:sldId id="288" r:id="rId23"/>
    <p:sldId id="302" r:id="rId24"/>
    <p:sldId id="289" r:id="rId25"/>
    <p:sldId id="290" r:id="rId26"/>
    <p:sldId id="291" r:id="rId27"/>
    <p:sldId id="292" r:id="rId28"/>
    <p:sldId id="29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DPI" initials="M" lastIdx="1" clrIdx="0">
    <p:extLst>
      <p:ext uri="{19B8F6BF-5375-455C-9EA6-DF929625EA0E}">
        <p15:presenceInfo xmlns:p15="http://schemas.microsoft.com/office/powerpoint/2012/main" userId="MDP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B200"/>
    <a:srgbClr val="C53DCF"/>
    <a:srgbClr val="131D3D"/>
    <a:srgbClr val="91C655"/>
    <a:srgbClr val="376DA7"/>
    <a:srgbClr val="AFC8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Hoja_de_c_lculo_de_Microsoft_Excel1.xlsx"/></Relationships>
</file>

<file path=ppt/charts/_rels/chart2.xml.rels><?xml version="1.0" encoding="UTF-8" standalone="yes"?>
<Relationships xmlns="http://schemas.openxmlformats.org/package/2006/relationships"><Relationship Id="rId3" Type="http://schemas.openxmlformats.org/officeDocument/2006/relationships/package" Target="../embeddings/Hoja_de_c_lculo_de_Microsoft_Excel2.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sz="2400"/>
              <a:t>Salto</a:t>
            </a:r>
            <a:r>
              <a:rPr lang="en-US" sz="2400" baseline="0"/>
              <a:t> unico en serie sintetica</a:t>
            </a:r>
            <a:endParaRPr lang="en-US" sz="2400"/>
          </a:p>
        </c:rich>
      </c:tx>
      <c:layout>
        <c:manualLayout>
          <c:xMode val="edge"/>
          <c:yMode val="edge"/>
          <c:x val="0.14966981132075471"/>
          <c:y val="2.2718259075471897E-2"/>
        </c:manualLayout>
      </c:layout>
      <c:overlay val="0"/>
    </c:title>
    <c:autoTitleDeleted val="0"/>
    <c:plotArea>
      <c:layout>
        <c:manualLayout>
          <c:layoutTarget val="inner"/>
          <c:xMode val="edge"/>
          <c:yMode val="edge"/>
          <c:x val="6.2291821423265475E-2"/>
          <c:y val="0.15281742250212826"/>
          <c:w val="0.9289678135405105"/>
          <c:h val="0.72832853472288661"/>
        </c:manualLayout>
      </c:layout>
      <c:lineChart>
        <c:grouping val="standard"/>
        <c:varyColors val="0"/>
        <c:ser>
          <c:idx val="0"/>
          <c:order val="0"/>
          <c:tx>
            <c:strRef>
              <c:f>data!$B$1</c:f>
              <c:strCache>
                <c:ptCount val="1"/>
                <c:pt idx="0">
                  <c:v>v</c:v>
                </c:pt>
              </c:strCache>
            </c:strRef>
          </c:tx>
          <c:spPr>
            <a:ln w="12700">
              <a:solidFill>
                <a:srgbClr val="000080"/>
              </a:solidFill>
              <a:prstDash val="solid"/>
            </a:ln>
          </c:spPr>
          <c:marker>
            <c:symbol val="diamond"/>
            <c:size val="5"/>
            <c:spPr>
              <a:solidFill>
                <a:srgbClr val="000080"/>
              </a:solidFill>
              <a:ln>
                <a:solidFill>
                  <a:srgbClr val="000080"/>
                </a:solidFill>
                <a:prstDash val="solid"/>
              </a:ln>
            </c:spPr>
          </c:marker>
          <c:cat>
            <c:numRef>
              <c:f>data!$A$2:$A$202</c:f>
              <c:numCache>
                <c:formatCode>General</c:formatCode>
                <c:ptCount val="2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numCache>
            </c:numRef>
          </c:cat>
          <c:val>
            <c:numRef>
              <c:f>data!$B$2:$B$202</c:f>
              <c:numCache>
                <c:formatCode>General</c:formatCode>
                <c:ptCount val="201"/>
                <c:pt idx="0">
                  <c:v>2.85</c:v>
                </c:pt>
                <c:pt idx="1">
                  <c:v>1.29</c:v>
                </c:pt>
                <c:pt idx="2">
                  <c:v>3.13</c:v>
                </c:pt>
                <c:pt idx="3">
                  <c:v>3.44</c:v>
                </c:pt>
                <c:pt idx="4">
                  <c:v>2.33</c:v>
                </c:pt>
                <c:pt idx="5">
                  <c:v>4.21</c:v>
                </c:pt>
                <c:pt idx="6">
                  <c:v>2.39</c:v>
                </c:pt>
                <c:pt idx="7">
                  <c:v>3.46</c:v>
                </c:pt>
                <c:pt idx="8">
                  <c:v>3.37</c:v>
                </c:pt>
                <c:pt idx="9">
                  <c:v>3.51</c:v>
                </c:pt>
                <c:pt idx="10">
                  <c:v>3.23</c:v>
                </c:pt>
                <c:pt idx="11">
                  <c:v>4.63</c:v>
                </c:pt>
                <c:pt idx="12">
                  <c:v>1.3</c:v>
                </c:pt>
                <c:pt idx="13">
                  <c:v>4.66</c:v>
                </c:pt>
                <c:pt idx="14">
                  <c:v>3.84</c:v>
                </c:pt>
                <c:pt idx="15">
                  <c:v>3.03</c:v>
                </c:pt>
                <c:pt idx="16">
                  <c:v>2.0499999999999998</c:v>
                </c:pt>
                <c:pt idx="17">
                  <c:v>3.15</c:v>
                </c:pt>
                <c:pt idx="18">
                  <c:v>2.11</c:v>
                </c:pt>
                <c:pt idx="19">
                  <c:v>3.94</c:v>
                </c:pt>
                <c:pt idx="20">
                  <c:v>3.41</c:v>
                </c:pt>
                <c:pt idx="21">
                  <c:v>2.9</c:v>
                </c:pt>
                <c:pt idx="22">
                  <c:v>2.4500000000000002</c:v>
                </c:pt>
                <c:pt idx="23">
                  <c:v>4.3899999999999997</c:v>
                </c:pt>
                <c:pt idx="24">
                  <c:v>1.54</c:v>
                </c:pt>
                <c:pt idx="25">
                  <c:v>2.9</c:v>
                </c:pt>
                <c:pt idx="26">
                  <c:v>3.37</c:v>
                </c:pt>
                <c:pt idx="27">
                  <c:v>3.25</c:v>
                </c:pt>
                <c:pt idx="28">
                  <c:v>3.19</c:v>
                </c:pt>
                <c:pt idx="29">
                  <c:v>3.39</c:v>
                </c:pt>
                <c:pt idx="30">
                  <c:v>3.45</c:v>
                </c:pt>
                <c:pt idx="31">
                  <c:v>3.36</c:v>
                </c:pt>
                <c:pt idx="32">
                  <c:v>2.4300000000000002</c:v>
                </c:pt>
                <c:pt idx="33">
                  <c:v>3.28</c:v>
                </c:pt>
                <c:pt idx="34">
                  <c:v>3.61</c:v>
                </c:pt>
                <c:pt idx="35">
                  <c:v>1.52</c:v>
                </c:pt>
                <c:pt idx="36">
                  <c:v>2.91</c:v>
                </c:pt>
                <c:pt idx="37">
                  <c:v>4.28</c:v>
                </c:pt>
                <c:pt idx="38">
                  <c:v>3.24</c:v>
                </c:pt>
                <c:pt idx="39">
                  <c:v>3.15</c:v>
                </c:pt>
                <c:pt idx="40">
                  <c:v>3.14</c:v>
                </c:pt>
                <c:pt idx="41">
                  <c:v>3.39</c:v>
                </c:pt>
                <c:pt idx="42">
                  <c:v>2.67</c:v>
                </c:pt>
                <c:pt idx="43">
                  <c:v>2.0499999999999998</c:v>
                </c:pt>
                <c:pt idx="44">
                  <c:v>2.44</c:v>
                </c:pt>
                <c:pt idx="45">
                  <c:v>4.6900000000000004</c:v>
                </c:pt>
                <c:pt idx="46">
                  <c:v>3.42</c:v>
                </c:pt>
                <c:pt idx="47">
                  <c:v>3.25</c:v>
                </c:pt>
                <c:pt idx="48">
                  <c:v>2.91</c:v>
                </c:pt>
                <c:pt idx="49">
                  <c:v>3.42</c:v>
                </c:pt>
                <c:pt idx="50">
                  <c:v>3.38</c:v>
                </c:pt>
                <c:pt idx="51">
                  <c:v>2.57</c:v>
                </c:pt>
                <c:pt idx="52">
                  <c:v>2.09</c:v>
                </c:pt>
                <c:pt idx="53">
                  <c:v>4.79</c:v>
                </c:pt>
                <c:pt idx="54">
                  <c:v>2.19</c:v>
                </c:pt>
                <c:pt idx="55">
                  <c:v>2.41</c:v>
                </c:pt>
                <c:pt idx="56">
                  <c:v>2.02</c:v>
                </c:pt>
                <c:pt idx="57">
                  <c:v>3.33</c:v>
                </c:pt>
                <c:pt idx="58">
                  <c:v>1.7</c:v>
                </c:pt>
                <c:pt idx="59">
                  <c:v>3.91</c:v>
                </c:pt>
                <c:pt idx="60">
                  <c:v>2.66</c:v>
                </c:pt>
                <c:pt idx="61">
                  <c:v>4.34</c:v>
                </c:pt>
                <c:pt idx="62">
                  <c:v>3.48</c:v>
                </c:pt>
                <c:pt idx="63">
                  <c:v>3.43</c:v>
                </c:pt>
                <c:pt idx="64">
                  <c:v>2.83</c:v>
                </c:pt>
                <c:pt idx="65">
                  <c:v>4.21</c:v>
                </c:pt>
                <c:pt idx="66">
                  <c:v>1.58</c:v>
                </c:pt>
                <c:pt idx="67">
                  <c:v>5.27</c:v>
                </c:pt>
                <c:pt idx="68">
                  <c:v>2.42</c:v>
                </c:pt>
                <c:pt idx="69">
                  <c:v>2.4900000000000002</c:v>
                </c:pt>
                <c:pt idx="70">
                  <c:v>1.18</c:v>
                </c:pt>
                <c:pt idx="71">
                  <c:v>3.6</c:v>
                </c:pt>
                <c:pt idx="72">
                  <c:v>3.79</c:v>
                </c:pt>
                <c:pt idx="73">
                  <c:v>3.81</c:v>
                </c:pt>
                <c:pt idx="74">
                  <c:v>1.73</c:v>
                </c:pt>
                <c:pt idx="75">
                  <c:v>3.33</c:v>
                </c:pt>
                <c:pt idx="76">
                  <c:v>3.65</c:v>
                </c:pt>
                <c:pt idx="77">
                  <c:v>3.65</c:v>
                </c:pt>
                <c:pt idx="78">
                  <c:v>3.2</c:v>
                </c:pt>
                <c:pt idx="79">
                  <c:v>1.93</c:v>
                </c:pt>
                <c:pt idx="80">
                  <c:v>4.28</c:v>
                </c:pt>
                <c:pt idx="81">
                  <c:v>3.06</c:v>
                </c:pt>
                <c:pt idx="82">
                  <c:v>3.71</c:v>
                </c:pt>
                <c:pt idx="83">
                  <c:v>2.74</c:v>
                </c:pt>
                <c:pt idx="84">
                  <c:v>1.46</c:v>
                </c:pt>
                <c:pt idx="85">
                  <c:v>1.54</c:v>
                </c:pt>
                <c:pt idx="86">
                  <c:v>2.88</c:v>
                </c:pt>
                <c:pt idx="87">
                  <c:v>3.8</c:v>
                </c:pt>
                <c:pt idx="88">
                  <c:v>1.59</c:v>
                </c:pt>
                <c:pt idx="89">
                  <c:v>0.4</c:v>
                </c:pt>
                <c:pt idx="90">
                  <c:v>4.08</c:v>
                </c:pt>
                <c:pt idx="91">
                  <c:v>3.53</c:v>
                </c:pt>
                <c:pt idx="92">
                  <c:v>1.94</c:v>
                </c:pt>
                <c:pt idx="93">
                  <c:v>3.65</c:v>
                </c:pt>
                <c:pt idx="94">
                  <c:v>5.61</c:v>
                </c:pt>
                <c:pt idx="95">
                  <c:v>3.17</c:v>
                </c:pt>
                <c:pt idx="96">
                  <c:v>3.39</c:v>
                </c:pt>
                <c:pt idx="97">
                  <c:v>1.49</c:v>
                </c:pt>
                <c:pt idx="98">
                  <c:v>3.6</c:v>
                </c:pt>
                <c:pt idx="99">
                  <c:v>3.75</c:v>
                </c:pt>
                <c:pt idx="100">
                  <c:v>1.33</c:v>
                </c:pt>
                <c:pt idx="101">
                  <c:v>2.82</c:v>
                </c:pt>
                <c:pt idx="102">
                  <c:v>3.34</c:v>
                </c:pt>
                <c:pt idx="103">
                  <c:v>4.7</c:v>
                </c:pt>
                <c:pt idx="104">
                  <c:v>3.28</c:v>
                </c:pt>
                <c:pt idx="105">
                  <c:v>0.9</c:v>
                </c:pt>
                <c:pt idx="106">
                  <c:v>4.22</c:v>
                </c:pt>
                <c:pt idx="107">
                  <c:v>2.5499999999999998</c:v>
                </c:pt>
                <c:pt idx="108">
                  <c:v>2.57</c:v>
                </c:pt>
                <c:pt idx="109">
                  <c:v>2.0099999999999998</c:v>
                </c:pt>
                <c:pt idx="110">
                  <c:v>3.4</c:v>
                </c:pt>
                <c:pt idx="111">
                  <c:v>2.11</c:v>
                </c:pt>
                <c:pt idx="112">
                  <c:v>3.59</c:v>
                </c:pt>
                <c:pt idx="113">
                  <c:v>2.1</c:v>
                </c:pt>
                <c:pt idx="114">
                  <c:v>1.98</c:v>
                </c:pt>
                <c:pt idx="115">
                  <c:v>4.03</c:v>
                </c:pt>
                <c:pt idx="116">
                  <c:v>0.56000000000000005</c:v>
                </c:pt>
                <c:pt idx="117">
                  <c:v>0.53</c:v>
                </c:pt>
                <c:pt idx="118">
                  <c:v>2.98</c:v>
                </c:pt>
                <c:pt idx="119">
                  <c:v>0.8</c:v>
                </c:pt>
                <c:pt idx="120">
                  <c:v>2.86</c:v>
                </c:pt>
                <c:pt idx="121">
                  <c:v>5.58</c:v>
                </c:pt>
                <c:pt idx="122">
                  <c:v>2.7</c:v>
                </c:pt>
                <c:pt idx="123">
                  <c:v>1.55</c:v>
                </c:pt>
                <c:pt idx="124">
                  <c:v>2.36</c:v>
                </c:pt>
                <c:pt idx="125">
                  <c:v>4.1100000000000003</c:v>
                </c:pt>
                <c:pt idx="126">
                  <c:v>6.77</c:v>
                </c:pt>
                <c:pt idx="127">
                  <c:v>7.72</c:v>
                </c:pt>
                <c:pt idx="128">
                  <c:v>8.43</c:v>
                </c:pt>
                <c:pt idx="129">
                  <c:v>5.96</c:v>
                </c:pt>
                <c:pt idx="130">
                  <c:v>6.94</c:v>
                </c:pt>
                <c:pt idx="131">
                  <c:v>5.38</c:v>
                </c:pt>
                <c:pt idx="132">
                  <c:v>6.49</c:v>
                </c:pt>
                <c:pt idx="133">
                  <c:v>5.55</c:v>
                </c:pt>
                <c:pt idx="134">
                  <c:v>6.85</c:v>
                </c:pt>
                <c:pt idx="135">
                  <c:v>6.61</c:v>
                </c:pt>
                <c:pt idx="136">
                  <c:v>8.07</c:v>
                </c:pt>
                <c:pt idx="137">
                  <c:v>7.82</c:v>
                </c:pt>
                <c:pt idx="138">
                  <c:v>8.32</c:v>
                </c:pt>
                <c:pt idx="139">
                  <c:v>6.26</c:v>
                </c:pt>
                <c:pt idx="140">
                  <c:v>8.6199999999999992</c:v>
                </c:pt>
                <c:pt idx="141">
                  <c:v>8.82</c:v>
                </c:pt>
                <c:pt idx="142">
                  <c:v>7.26</c:v>
                </c:pt>
                <c:pt idx="143">
                  <c:v>6.99</c:v>
                </c:pt>
                <c:pt idx="144">
                  <c:v>4.9000000000000004</c:v>
                </c:pt>
                <c:pt idx="145">
                  <c:v>8.18</c:v>
                </c:pt>
                <c:pt idx="146">
                  <c:v>6.88</c:v>
                </c:pt>
                <c:pt idx="147">
                  <c:v>7.66</c:v>
                </c:pt>
                <c:pt idx="148">
                  <c:v>6.84</c:v>
                </c:pt>
                <c:pt idx="149">
                  <c:v>6.99</c:v>
                </c:pt>
                <c:pt idx="150">
                  <c:v>6.99</c:v>
                </c:pt>
                <c:pt idx="151">
                  <c:v>7.99</c:v>
                </c:pt>
                <c:pt idx="152">
                  <c:v>7.04</c:v>
                </c:pt>
                <c:pt idx="153">
                  <c:v>7.36</c:v>
                </c:pt>
                <c:pt idx="154">
                  <c:v>6.77</c:v>
                </c:pt>
                <c:pt idx="155">
                  <c:v>6.1</c:v>
                </c:pt>
                <c:pt idx="156">
                  <c:v>7.45</c:v>
                </c:pt>
                <c:pt idx="157">
                  <c:v>7.67</c:v>
                </c:pt>
                <c:pt idx="158">
                  <c:v>7.77</c:v>
                </c:pt>
                <c:pt idx="159">
                  <c:v>5.28</c:v>
                </c:pt>
                <c:pt idx="160">
                  <c:v>9.0500000000000007</c:v>
                </c:pt>
                <c:pt idx="161">
                  <c:v>8.0299999999999994</c:v>
                </c:pt>
                <c:pt idx="162">
                  <c:v>7.16</c:v>
                </c:pt>
                <c:pt idx="163">
                  <c:v>6.37</c:v>
                </c:pt>
                <c:pt idx="164">
                  <c:v>5.09</c:v>
                </c:pt>
                <c:pt idx="165">
                  <c:v>7.66</c:v>
                </c:pt>
                <c:pt idx="166">
                  <c:v>6.59</c:v>
                </c:pt>
                <c:pt idx="167">
                  <c:v>6.57</c:v>
                </c:pt>
                <c:pt idx="168">
                  <c:v>5.52</c:v>
                </c:pt>
                <c:pt idx="169">
                  <c:v>6.39</c:v>
                </c:pt>
                <c:pt idx="170">
                  <c:v>7.56</c:v>
                </c:pt>
                <c:pt idx="171">
                  <c:v>5.12</c:v>
                </c:pt>
                <c:pt idx="172">
                  <c:v>8.44</c:v>
                </c:pt>
                <c:pt idx="173">
                  <c:v>8.84</c:v>
                </c:pt>
                <c:pt idx="174">
                  <c:v>7.53</c:v>
                </c:pt>
                <c:pt idx="175">
                  <c:v>8.24</c:v>
                </c:pt>
                <c:pt idx="176">
                  <c:v>9.44</c:v>
                </c:pt>
                <c:pt idx="177">
                  <c:v>4.92</c:v>
                </c:pt>
                <c:pt idx="178">
                  <c:v>6.59</c:v>
                </c:pt>
                <c:pt idx="179">
                  <c:v>6.77</c:v>
                </c:pt>
                <c:pt idx="180">
                  <c:v>7.21</c:v>
                </c:pt>
                <c:pt idx="181">
                  <c:v>6.28</c:v>
                </c:pt>
                <c:pt idx="182">
                  <c:v>7.86</c:v>
                </c:pt>
                <c:pt idx="183">
                  <c:v>5.66</c:v>
                </c:pt>
                <c:pt idx="184">
                  <c:v>6.6</c:v>
                </c:pt>
                <c:pt idx="185">
                  <c:v>6.12</c:v>
                </c:pt>
                <c:pt idx="186">
                  <c:v>7.25</c:v>
                </c:pt>
                <c:pt idx="187">
                  <c:v>6.49</c:v>
                </c:pt>
                <c:pt idx="188">
                  <c:v>6.86</c:v>
                </c:pt>
                <c:pt idx="189">
                  <c:v>6.76</c:v>
                </c:pt>
                <c:pt idx="190">
                  <c:v>8.06</c:v>
                </c:pt>
                <c:pt idx="191">
                  <c:v>8.5</c:v>
                </c:pt>
                <c:pt idx="192">
                  <c:v>7.42</c:v>
                </c:pt>
                <c:pt idx="193">
                  <c:v>7.59</c:v>
                </c:pt>
                <c:pt idx="194">
                  <c:v>7.13</c:v>
                </c:pt>
                <c:pt idx="195">
                  <c:v>7.25</c:v>
                </c:pt>
                <c:pt idx="196">
                  <c:v>7.05</c:v>
                </c:pt>
                <c:pt idx="197">
                  <c:v>7.16</c:v>
                </c:pt>
                <c:pt idx="198">
                  <c:v>6.43</c:v>
                </c:pt>
                <c:pt idx="199">
                  <c:v>7.84</c:v>
                </c:pt>
                <c:pt idx="200">
                  <c:v>8.11</c:v>
                </c:pt>
              </c:numCache>
            </c:numRef>
          </c:val>
          <c:smooth val="0"/>
        </c:ser>
        <c:dLbls>
          <c:showLegendKey val="0"/>
          <c:showVal val="0"/>
          <c:showCatName val="0"/>
          <c:showSerName val="0"/>
          <c:showPercent val="0"/>
          <c:showBubbleSize val="0"/>
        </c:dLbls>
        <c:marker val="1"/>
        <c:smooth val="0"/>
        <c:axId val="2064285520"/>
        <c:axId val="2064286064"/>
      </c:lineChart>
      <c:catAx>
        <c:axId val="2064285520"/>
        <c:scaling>
          <c:orientation val="minMax"/>
        </c:scaling>
        <c:delete val="1"/>
        <c:axPos val="b"/>
        <c:numFmt formatCode="General" sourceLinked="1"/>
        <c:majorTickMark val="out"/>
        <c:minorTickMark val="none"/>
        <c:tickLblPos val="nextTo"/>
        <c:crossAx val="2064286064"/>
        <c:crosses val="autoZero"/>
        <c:auto val="1"/>
        <c:lblAlgn val="ctr"/>
        <c:lblOffset val="100"/>
        <c:noMultiLvlLbl val="0"/>
      </c:catAx>
      <c:valAx>
        <c:axId val="2064286064"/>
        <c:scaling>
          <c:orientation val="minMax"/>
        </c:scaling>
        <c:delete val="1"/>
        <c:axPos val="l"/>
        <c:majorGridlines>
          <c:spPr>
            <a:ln w="3175">
              <a:solidFill>
                <a:srgbClr val="000000"/>
              </a:solidFill>
              <a:prstDash val="sysDash"/>
            </a:ln>
          </c:spPr>
        </c:majorGridlines>
        <c:numFmt formatCode="General" sourceLinked="1"/>
        <c:majorTickMark val="out"/>
        <c:minorTickMark val="none"/>
        <c:tickLblPos val="nextTo"/>
        <c:crossAx val="2064285520"/>
        <c:crosses val="autoZero"/>
        <c:crossBetween val="between"/>
      </c:valAx>
      <c:spPr>
        <a:solidFill>
          <a:srgbClr val="FFFFFF"/>
        </a:solidFill>
        <a:ln w="12700">
          <a:solidFill>
            <a:srgbClr val="808080"/>
          </a:solidFill>
          <a:prstDash val="solid"/>
        </a:ln>
      </c:spPr>
    </c:plotArea>
    <c:plotVisOnly val="1"/>
    <c:dispBlanksAs val="gap"/>
    <c:showDLblsOverMax val="0"/>
  </c:chart>
  <c:spPr>
    <a:noFill/>
    <a:ln w="6350">
      <a:noFill/>
    </a:ln>
  </c:spPr>
  <c:txPr>
    <a:bodyPr/>
    <a:lstStyle/>
    <a:p>
      <a:pPr>
        <a:defRPr sz="1000" b="0" i="0" u="none" strike="noStrike" baseline="0">
          <a:solidFill>
            <a:srgbClr val="000000"/>
          </a:solidFill>
          <a:latin typeface="Arial"/>
          <a:ea typeface="Arial"/>
          <a:cs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j-lt"/>
                <a:ea typeface="+mn-ea"/>
                <a:cs typeface="+mn-cs"/>
              </a:defRPr>
            </a:pPr>
            <a:r>
              <a:rPr lang="en-US" sz="2400">
                <a:solidFill>
                  <a:schemeClr val="tx1"/>
                </a:solidFill>
                <a:latin typeface="+mj-lt"/>
              </a:rPr>
              <a:t>TX</a:t>
            </a:r>
            <a:r>
              <a:rPr lang="en-US" sz="2400" baseline="0">
                <a:solidFill>
                  <a:schemeClr val="tx1"/>
                </a:solidFill>
                <a:latin typeface="+mj-lt"/>
              </a:rPr>
              <a:t> </a:t>
            </a:r>
            <a:r>
              <a:rPr lang="en-US" sz="2400">
                <a:solidFill>
                  <a:schemeClr val="tx1"/>
                </a:solidFill>
                <a:latin typeface="+mj-lt"/>
              </a:rPr>
              <a:t>Obs</a:t>
            </a:r>
            <a:r>
              <a:rPr lang="en-US" sz="2400" baseline="0">
                <a:solidFill>
                  <a:schemeClr val="tx1"/>
                </a:solidFill>
                <a:latin typeface="+mj-lt"/>
              </a:rPr>
              <a:t> </a:t>
            </a:r>
            <a:r>
              <a:rPr lang="en-US" sz="2400">
                <a:solidFill>
                  <a:schemeClr val="tx1"/>
                </a:solidFill>
                <a:latin typeface="+mj-lt"/>
              </a:rPr>
              <a:t>Jul-Aug</a:t>
            </a:r>
            <a:r>
              <a:rPr lang="en-US" sz="2400" baseline="0">
                <a:solidFill>
                  <a:schemeClr val="tx1"/>
                </a:solidFill>
                <a:latin typeface="+mj-lt"/>
              </a:rPr>
              <a:t> </a:t>
            </a:r>
            <a:r>
              <a:rPr lang="en-US" sz="2400">
                <a:solidFill>
                  <a:schemeClr val="tx1"/>
                </a:solidFill>
                <a:latin typeface="+mj-lt"/>
              </a:rPr>
              <a:t>Tarifa</a:t>
            </a:r>
            <a:r>
              <a:rPr lang="en-US" baseline="0">
                <a:solidFill>
                  <a:schemeClr val="tx1"/>
                </a:solidFill>
                <a:latin typeface="+mj-lt"/>
              </a:rPr>
              <a:t> </a:t>
            </a:r>
            <a:endParaRPr lang="en-US">
              <a:solidFill>
                <a:schemeClr val="tx1"/>
              </a:solidFill>
              <a:latin typeface="+mj-lt"/>
            </a:endParaRP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j-lt"/>
              <a:ea typeface="+mn-ea"/>
              <a:cs typeface="+mn-cs"/>
            </a:defRPr>
          </a:pPr>
          <a:endParaRPr lang="en-US"/>
        </a:p>
      </c:txPr>
    </c:title>
    <c:autoTitleDeleted val="0"/>
    <c:plotArea>
      <c:layout>
        <c:manualLayout>
          <c:layoutTarget val="inner"/>
          <c:xMode val="edge"/>
          <c:yMode val="edge"/>
          <c:x val="0.10110476815398076"/>
          <c:y val="0.16203703703703703"/>
          <c:w val="0.8578495188101487"/>
          <c:h val="0.69697579469233018"/>
        </c:manualLayout>
      </c:layout>
      <c:lineChart>
        <c:grouping val="standard"/>
        <c:varyColors val="0"/>
        <c:ser>
          <c:idx val="0"/>
          <c:order val="0"/>
          <c:tx>
            <c:strRef>
              <c:f>TTarifa!$B$1</c:f>
              <c:strCache>
                <c:ptCount val="1"/>
                <c:pt idx="0">
                  <c:v>Tmax</c:v>
                </c:pt>
              </c:strCache>
            </c:strRef>
          </c:tx>
          <c:spPr>
            <a:ln w="28575" cap="rnd">
              <a:solidFill>
                <a:srgbClr val="2108B8"/>
              </a:solidFill>
              <a:round/>
            </a:ln>
            <a:effectLst/>
          </c:spPr>
          <c:marker>
            <c:symbol val="circle"/>
            <c:size val="5"/>
            <c:spPr>
              <a:solidFill>
                <a:srgbClr val="2108B8"/>
              </a:solidFill>
              <a:ln w="9525">
                <a:solidFill>
                  <a:srgbClr val="2108B8"/>
                </a:solidFill>
              </a:ln>
              <a:effectLst/>
            </c:spPr>
          </c:marker>
          <c:cat>
            <c:numRef>
              <c:f>TTarifa!$A$2:$A$65</c:f>
              <c:numCache>
                <c:formatCode>General</c:formatCode>
                <c:ptCount val="64"/>
                <c:pt idx="0">
                  <c:v>1945</c:v>
                </c:pt>
                <c:pt idx="1">
                  <c:v>1946</c:v>
                </c:pt>
                <c:pt idx="2">
                  <c:v>1947</c:v>
                </c:pt>
                <c:pt idx="3">
                  <c:v>1948</c:v>
                </c:pt>
                <c:pt idx="4">
                  <c:v>1949</c:v>
                </c:pt>
                <c:pt idx="5">
                  <c:v>1950</c:v>
                </c:pt>
                <c:pt idx="6">
                  <c:v>1951</c:v>
                </c:pt>
                <c:pt idx="7">
                  <c:v>1952</c:v>
                </c:pt>
                <c:pt idx="8">
                  <c:v>1953</c:v>
                </c:pt>
                <c:pt idx="9">
                  <c:v>1954</c:v>
                </c:pt>
                <c:pt idx="10">
                  <c:v>1955</c:v>
                </c:pt>
                <c:pt idx="11">
                  <c:v>1956</c:v>
                </c:pt>
                <c:pt idx="12">
                  <c:v>1957</c:v>
                </c:pt>
                <c:pt idx="13">
                  <c:v>1958</c:v>
                </c:pt>
                <c:pt idx="14">
                  <c:v>1959</c:v>
                </c:pt>
                <c:pt idx="15">
                  <c:v>1960</c:v>
                </c:pt>
                <c:pt idx="16">
                  <c:v>1961</c:v>
                </c:pt>
                <c:pt idx="17">
                  <c:v>1962</c:v>
                </c:pt>
                <c:pt idx="18">
                  <c:v>1963</c:v>
                </c:pt>
                <c:pt idx="19">
                  <c:v>1964</c:v>
                </c:pt>
                <c:pt idx="20">
                  <c:v>1965</c:v>
                </c:pt>
                <c:pt idx="21">
                  <c:v>1966</c:v>
                </c:pt>
                <c:pt idx="22">
                  <c:v>1967</c:v>
                </c:pt>
                <c:pt idx="23">
                  <c:v>1968</c:v>
                </c:pt>
                <c:pt idx="24">
                  <c:v>1969</c:v>
                </c:pt>
                <c:pt idx="25">
                  <c:v>1970</c:v>
                </c:pt>
                <c:pt idx="26">
                  <c:v>1971</c:v>
                </c:pt>
                <c:pt idx="27">
                  <c:v>1972</c:v>
                </c:pt>
                <c:pt idx="28">
                  <c:v>1973</c:v>
                </c:pt>
                <c:pt idx="29">
                  <c:v>1974</c:v>
                </c:pt>
                <c:pt idx="30">
                  <c:v>1975</c:v>
                </c:pt>
                <c:pt idx="31">
                  <c:v>1976</c:v>
                </c:pt>
                <c:pt idx="32">
                  <c:v>1977</c:v>
                </c:pt>
                <c:pt idx="33">
                  <c:v>1978</c:v>
                </c:pt>
                <c:pt idx="34">
                  <c:v>1979</c:v>
                </c:pt>
                <c:pt idx="35">
                  <c:v>1980</c:v>
                </c:pt>
                <c:pt idx="36">
                  <c:v>1981</c:v>
                </c:pt>
                <c:pt idx="37">
                  <c:v>1982</c:v>
                </c:pt>
                <c:pt idx="38">
                  <c:v>1983</c:v>
                </c:pt>
                <c:pt idx="39">
                  <c:v>1984</c:v>
                </c:pt>
                <c:pt idx="40">
                  <c:v>1985</c:v>
                </c:pt>
                <c:pt idx="41">
                  <c:v>1986</c:v>
                </c:pt>
                <c:pt idx="42">
                  <c:v>1987</c:v>
                </c:pt>
                <c:pt idx="43">
                  <c:v>1988</c:v>
                </c:pt>
                <c:pt idx="44">
                  <c:v>1989</c:v>
                </c:pt>
                <c:pt idx="45">
                  <c:v>1990</c:v>
                </c:pt>
                <c:pt idx="46">
                  <c:v>1991</c:v>
                </c:pt>
                <c:pt idx="47">
                  <c:v>1992</c:v>
                </c:pt>
                <c:pt idx="48">
                  <c:v>1993</c:v>
                </c:pt>
                <c:pt idx="49">
                  <c:v>1994</c:v>
                </c:pt>
                <c:pt idx="50">
                  <c:v>1995</c:v>
                </c:pt>
                <c:pt idx="51">
                  <c:v>1996</c:v>
                </c:pt>
                <c:pt idx="52">
                  <c:v>1997</c:v>
                </c:pt>
                <c:pt idx="53">
                  <c:v>1998</c:v>
                </c:pt>
                <c:pt idx="54">
                  <c:v>1999</c:v>
                </c:pt>
                <c:pt idx="55">
                  <c:v>2000</c:v>
                </c:pt>
                <c:pt idx="56">
                  <c:v>2001</c:v>
                </c:pt>
                <c:pt idx="57">
                  <c:v>2002</c:v>
                </c:pt>
                <c:pt idx="58">
                  <c:v>2003</c:v>
                </c:pt>
                <c:pt idx="59">
                  <c:v>2004</c:v>
                </c:pt>
                <c:pt idx="60">
                  <c:v>2005</c:v>
                </c:pt>
                <c:pt idx="61">
                  <c:v>2006</c:v>
                </c:pt>
                <c:pt idx="62">
                  <c:v>2007</c:v>
                </c:pt>
                <c:pt idx="63">
                  <c:v>2008</c:v>
                </c:pt>
              </c:numCache>
            </c:numRef>
          </c:cat>
          <c:val>
            <c:numRef>
              <c:f>TTarifa!$B$2:$B$65</c:f>
              <c:numCache>
                <c:formatCode>General</c:formatCode>
                <c:ptCount val="64"/>
                <c:pt idx="0">
                  <c:v>27.4</c:v>
                </c:pt>
                <c:pt idx="1">
                  <c:v>27.9</c:v>
                </c:pt>
                <c:pt idx="2">
                  <c:v>28.4</c:v>
                </c:pt>
                <c:pt idx="4">
                  <c:v>28.5</c:v>
                </c:pt>
                <c:pt idx="5">
                  <c:v>27.9</c:v>
                </c:pt>
                <c:pt idx="6">
                  <c:v>24.7</c:v>
                </c:pt>
                <c:pt idx="7">
                  <c:v>24.4</c:v>
                </c:pt>
                <c:pt idx="8">
                  <c:v>24.6</c:v>
                </c:pt>
                <c:pt idx="9">
                  <c:v>23.8</c:v>
                </c:pt>
                <c:pt idx="10">
                  <c:v>25.7</c:v>
                </c:pt>
                <c:pt idx="11">
                  <c:v>24.4</c:v>
                </c:pt>
                <c:pt idx="12">
                  <c:v>25.7</c:v>
                </c:pt>
                <c:pt idx="13">
                  <c:v>24.3</c:v>
                </c:pt>
                <c:pt idx="14">
                  <c:v>25.5</c:v>
                </c:pt>
                <c:pt idx="15">
                  <c:v>25</c:v>
                </c:pt>
                <c:pt idx="16">
                  <c:v>25.5</c:v>
                </c:pt>
                <c:pt idx="17">
                  <c:v>25.2</c:v>
                </c:pt>
                <c:pt idx="18">
                  <c:v>25.9</c:v>
                </c:pt>
                <c:pt idx="19">
                  <c:v>27.5</c:v>
                </c:pt>
                <c:pt idx="20">
                  <c:v>25.6</c:v>
                </c:pt>
                <c:pt idx="21">
                  <c:v>26.1</c:v>
                </c:pt>
                <c:pt idx="22">
                  <c:v>25.5</c:v>
                </c:pt>
                <c:pt idx="23">
                  <c:v>25.6</c:v>
                </c:pt>
                <c:pt idx="24">
                  <c:v>25.2</c:v>
                </c:pt>
                <c:pt idx="25">
                  <c:v>25.9</c:v>
                </c:pt>
                <c:pt idx="26">
                  <c:v>25.2</c:v>
                </c:pt>
                <c:pt idx="27">
                  <c:v>21.8</c:v>
                </c:pt>
                <c:pt idx="29">
                  <c:v>23.3</c:v>
                </c:pt>
                <c:pt idx="30">
                  <c:v>23</c:v>
                </c:pt>
                <c:pt idx="31">
                  <c:v>23.3</c:v>
                </c:pt>
                <c:pt idx="32">
                  <c:v>21.4</c:v>
                </c:pt>
                <c:pt idx="33">
                  <c:v>22.1</c:v>
                </c:pt>
                <c:pt idx="34">
                  <c:v>22.7</c:v>
                </c:pt>
                <c:pt idx="35">
                  <c:v>22.9</c:v>
                </c:pt>
                <c:pt idx="36">
                  <c:v>22.7</c:v>
                </c:pt>
                <c:pt idx="37">
                  <c:v>23</c:v>
                </c:pt>
                <c:pt idx="38">
                  <c:v>22.6</c:v>
                </c:pt>
                <c:pt idx="42">
                  <c:v>23</c:v>
                </c:pt>
                <c:pt idx="43">
                  <c:v>22.9</c:v>
                </c:pt>
                <c:pt idx="44">
                  <c:v>23.6</c:v>
                </c:pt>
                <c:pt idx="45">
                  <c:v>22.9</c:v>
                </c:pt>
                <c:pt idx="46">
                  <c:v>22.9</c:v>
                </c:pt>
                <c:pt idx="47">
                  <c:v>22.1</c:v>
                </c:pt>
                <c:pt idx="48">
                  <c:v>21.9</c:v>
                </c:pt>
                <c:pt idx="49">
                  <c:v>22.3</c:v>
                </c:pt>
                <c:pt idx="50">
                  <c:v>22.2</c:v>
                </c:pt>
                <c:pt idx="51">
                  <c:v>22</c:v>
                </c:pt>
                <c:pt idx="52">
                  <c:v>22</c:v>
                </c:pt>
                <c:pt idx="53">
                  <c:v>22</c:v>
                </c:pt>
                <c:pt idx="54">
                  <c:v>22.2</c:v>
                </c:pt>
                <c:pt idx="55">
                  <c:v>25</c:v>
                </c:pt>
                <c:pt idx="56">
                  <c:v>24.7</c:v>
                </c:pt>
                <c:pt idx="57">
                  <c:v>24.2</c:v>
                </c:pt>
                <c:pt idx="58">
                  <c:v>24.9</c:v>
                </c:pt>
                <c:pt idx="59">
                  <c:v>25.5</c:v>
                </c:pt>
                <c:pt idx="60">
                  <c:v>24.5</c:v>
                </c:pt>
                <c:pt idx="62">
                  <c:v>24.5</c:v>
                </c:pt>
                <c:pt idx="63">
                  <c:v>24.1</c:v>
                </c:pt>
              </c:numCache>
            </c:numRef>
          </c:val>
          <c:smooth val="0"/>
        </c:ser>
        <c:dLbls>
          <c:showLegendKey val="0"/>
          <c:showVal val="0"/>
          <c:showCatName val="0"/>
          <c:showSerName val="0"/>
          <c:showPercent val="0"/>
          <c:showBubbleSize val="0"/>
        </c:dLbls>
        <c:marker val="1"/>
        <c:smooth val="0"/>
        <c:axId val="2064280080"/>
        <c:axId val="2064290960"/>
      </c:lineChart>
      <c:catAx>
        <c:axId val="2064280080"/>
        <c:scaling>
          <c:orientation val="minMax"/>
        </c:scaling>
        <c:delete val="0"/>
        <c:axPos val="b"/>
        <c:numFmt formatCode="General" sourceLinked="1"/>
        <c:majorTickMark val="in"/>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2064290960"/>
        <c:crosses val="autoZero"/>
        <c:auto val="1"/>
        <c:lblAlgn val="ctr"/>
        <c:lblOffset val="100"/>
        <c:tickLblSkip val="10"/>
        <c:tickMarkSkip val="5"/>
        <c:noMultiLvlLbl val="0"/>
      </c:catAx>
      <c:valAx>
        <c:axId val="2064290960"/>
        <c:scaling>
          <c:orientation val="minMax"/>
          <c:min val="18"/>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1400" b="0" i="0" u="none" strike="noStrike" kern="1200" baseline="0">
                    <a:solidFill>
                      <a:schemeClr val="tx1"/>
                    </a:solidFill>
                    <a:latin typeface="+mn-lt"/>
                    <a:ea typeface="+mn-ea"/>
                    <a:cs typeface="+mn-cs"/>
                  </a:defRPr>
                </a:pPr>
                <a:r>
                  <a:rPr lang="es-ES" sz="1400">
                    <a:solidFill>
                      <a:schemeClr val="tx1"/>
                    </a:solidFill>
                  </a:rPr>
                  <a:t>°C</a:t>
                </a:r>
              </a:p>
            </c:rich>
          </c:tx>
          <c:layout>
            <c:manualLayout>
              <c:xMode val="edge"/>
              <c:yMode val="edge"/>
              <c:x val="2.5000000000000001E-2"/>
              <c:y val="1.8117526975794693E-2"/>
            </c:manualLayout>
          </c:layout>
          <c:overlay val="0"/>
          <c:spPr>
            <a:noFill/>
            <a:ln>
              <a:noFill/>
            </a:ln>
            <a:effectLst/>
          </c:spPr>
          <c:txPr>
            <a:bodyPr rot="0" spcFirstLastPara="1" vertOverflow="ellipsis" wrap="square" anchor="ctr" anchorCtr="1"/>
            <a:lstStyle/>
            <a:p>
              <a:pPr>
                <a:defRPr sz="1400" b="0"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2064280080"/>
        <c:crosses val="autoZero"/>
        <c:crossBetween val="between"/>
      </c:valAx>
      <c:spPr>
        <a:noFill/>
        <a:ln>
          <a:noFill/>
        </a:ln>
        <a:effectLst>
          <a:glow rad="127000">
            <a:schemeClr val="tx1">
              <a:lumMod val="85000"/>
              <a:lumOff val="15000"/>
            </a:schemeClr>
          </a:glow>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DD560B-7F91-4CFF-94E7-707CBA57AC95}" type="datetimeFigureOut">
              <a:rPr lang="en-US" smtClean="0"/>
              <a:t>11/17/2025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CD0713-D9F0-4ECC-9B93-641BCA36B9A4}" type="slidenum">
              <a:rPr lang="en-US" smtClean="0"/>
              <a:t>‹Nº›</a:t>
            </a:fld>
            <a:endParaRPr lang="en-US"/>
          </a:p>
        </p:txBody>
      </p:sp>
    </p:spTree>
    <p:extLst>
      <p:ext uri="{BB962C8B-B14F-4D97-AF65-F5344CB8AC3E}">
        <p14:creationId xmlns:p14="http://schemas.microsoft.com/office/powerpoint/2010/main" val="280749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1143000"/>
            <a:ext cx="5486400" cy="3086100"/>
          </a:xfrm>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CFCD0713-D9F0-4ECC-9B93-641BCA36B9A4}" type="slidenum">
              <a:rPr lang="en-US" smtClean="0"/>
              <a:t>2</a:t>
            </a:fld>
            <a:endParaRPr lang="en-US"/>
          </a:p>
        </p:txBody>
      </p:sp>
    </p:spTree>
    <p:extLst>
      <p:ext uri="{BB962C8B-B14F-4D97-AF65-F5344CB8AC3E}">
        <p14:creationId xmlns:p14="http://schemas.microsoft.com/office/powerpoint/2010/main" val="25211255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2" y="2130437"/>
            <a:ext cx="103632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828802" y="3886200"/>
            <a:ext cx="8534400" cy="1752600"/>
          </a:xfrm>
        </p:spPr>
        <p:txBody>
          <a:bodyPr/>
          <a:lstStyle>
            <a:lvl1pPr marL="0" indent="0" algn="ctr">
              <a:buNone/>
              <a:defRPr/>
            </a:lvl1pPr>
            <a:lvl2pPr marL="457177" indent="0" algn="ctr">
              <a:buNone/>
              <a:defRPr/>
            </a:lvl2pPr>
            <a:lvl3pPr marL="914355" indent="0" algn="ctr">
              <a:buNone/>
              <a:defRPr/>
            </a:lvl3pPr>
            <a:lvl4pPr marL="1371532" indent="0" algn="ctr">
              <a:buNone/>
              <a:defRPr/>
            </a:lvl4pPr>
            <a:lvl5pPr marL="1828707" indent="0" algn="ctr">
              <a:buNone/>
              <a:defRPr/>
            </a:lvl5pPr>
            <a:lvl6pPr marL="2285886" indent="0" algn="ctr">
              <a:buNone/>
              <a:defRPr/>
            </a:lvl6pPr>
            <a:lvl7pPr marL="2743060" indent="0" algn="ctr">
              <a:buNone/>
              <a:defRPr/>
            </a:lvl7pPr>
            <a:lvl8pPr marL="3200237" indent="0" algn="ctr">
              <a:buNone/>
              <a:defRPr/>
            </a:lvl8pPr>
            <a:lvl9pPr marL="3657416" indent="0" algn="ctr">
              <a:buNone/>
              <a:defRPr/>
            </a:lvl9pPr>
          </a:lstStyle>
          <a:p>
            <a:r>
              <a:rPr lang="en-US" smtClean="0"/>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B751759-36C1-40D8-A32D-9BBF65E57404}" type="slidenum">
              <a:rPr lang="en-US" altLang="en-US">
                <a:solidFill>
                  <a:srgbClr val="000000"/>
                </a:solidFill>
              </a:rPr>
              <a:pPr>
                <a:defRPr/>
              </a:pPr>
              <a:t>‹Nº›</a:t>
            </a:fld>
            <a:endParaRPr lang="en-US" altLang="en-US">
              <a:solidFill>
                <a:srgbClr val="000000"/>
              </a:solidFill>
            </a:endParaRPr>
          </a:p>
        </p:txBody>
      </p:sp>
    </p:spTree>
    <p:extLst>
      <p:ext uri="{BB962C8B-B14F-4D97-AF65-F5344CB8AC3E}">
        <p14:creationId xmlns:p14="http://schemas.microsoft.com/office/powerpoint/2010/main" val="33482825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D7827E03-059E-4E2C-96D8-80AAC40F5C36}" type="slidenum">
              <a:rPr lang="en-US" altLang="en-US">
                <a:solidFill>
                  <a:srgbClr val="000000"/>
                </a:solidFill>
              </a:rPr>
              <a:pPr>
                <a:defRPr/>
              </a:pPr>
              <a:t>‹Nº›</a:t>
            </a:fld>
            <a:endParaRPr lang="en-US" altLang="en-US">
              <a:solidFill>
                <a:srgbClr val="000000"/>
              </a:solidFill>
            </a:endParaRPr>
          </a:p>
        </p:txBody>
      </p:sp>
    </p:spTree>
    <p:extLst>
      <p:ext uri="{BB962C8B-B14F-4D97-AF65-F5344CB8AC3E}">
        <p14:creationId xmlns:p14="http://schemas.microsoft.com/office/powerpoint/2010/main" val="3512979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13"/>
            <a:ext cx="103632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963084" y="2906716"/>
            <a:ext cx="10363200" cy="1500187"/>
          </a:xfrm>
        </p:spPr>
        <p:txBody>
          <a:bodyPr anchor="b"/>
          <a:lstStyle>
            <a:lvl1pPr marL="0" indent="0">
              <a:buNone/>
              <a:defRPr sz="2000"/>
            </a:lvl1pPr>
            <a:lvl2pPr marL="457177" indent="0">
              <a:buNone/>
              <a:defRPr sz="1801"/>
            </a:lvl2pPr>
            <a:lvl3pPr marL="914355" indent="0">
              <a:buNone/>
              <a:defRPr sz="1600"/>
            </a:lvl3pPr>
            <a:lvl4pPr marL="1371532" indent="0">
              <a:buNone/>
              <a:defRPr sz="1401"/>
            </a:lvl4pPr>
            <a:lvl5pPr marL="1828707" indent="0">
              <a:buNone/>
              <a:defRPr sz="1401"/>
            </a:lvl5pPr>
            <a:lvl6pPr marL="2285886" indent="0">
              <a:buNone/>
              <a:defRPr sz="1401"/>
            </a:lvl6pPr>
            <a:lvl7pPr marL="2743060" indent="0">
              <a:buNone/>
              <a:defRPr sz="1401"/>
            </a:lvl7pPr>
            <a:lvl8pPr marL="3200237" indent="0">
              <a:buNone/>
              <a:defRPr sz="1401"/>
            </a:lvl8pPr>
            <a:lvl9pPr marL="3657416" indent="0">
              <a:buNone/>
              <a:defRPr sz="1401"/>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0DADAFA6-A9ED-4FE5-BB4B-7BD4F22D941F}" type="slidenum">
              <a:rPr lang="en-US" altLang="en-US">
                <a:solidFill>
                  <a:srgbClr val="000000"/>
                </a:solidFill>
              </a:rPr>
              <a:pPr>
                <a:defRPr/>
              </a:pPr>
              <a:t>‹Nº›</a:t>
            </a:fld>
            <a:endParaRPr lang="en-US" altLang="en-US">
              <a:solidFill>
                <a:srgbClr val="000000"/>
              </a:solidFill>
            </a:endParaRPr>
          </a:p>
        </p:txBody>
      </p:sp>
    </p:spTree>
    <p:extLst>
      <p:ext uri="{BB962C8B-B14F-4D97-AF65-F5344CB8AC3E}">
        <p14:creationId xmlns:p14="http://schemas.microsoft.com/office/powerpoint/2010/main" val="2970327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609601" y="1600208"/>
            <a:ext cx="5384802" cy="4525963"/>
          </a:xfrm>
        </p:spPr>
        <p:txBody>
          <a:bodyPr/>
          <a:lstStyle>
            <a:lvl1pPr>
              <a:defRPr sz="2798"/>
            </a:lvl1pPr>
            <a:lvl2pPr>
              <a:defRPr sz="2400"/>
            </a:lvl2pPr>
            <a:lvl3pPr>
              <a:defRPr sz="2000"/>
            </a:lvl3pPr>
            <a:lvl4pPr>
              <a:defRPr sz="1801"/>
            </a:lvl4pPr>
            <a:lvl5pPr>
              <a:defRPr sz="1801"/>
            </a:lvl5pPr>
            <a:lvl6pPr>
              <a:defRPr sz="1801"/>
            </a:lvl6pPr>
            <a:lvl7pPr>
              <a:defRPr sz="1801"/>
            </a:lvl7pPr>
            <a:lvl8pPr>
              <a:defRPr sz="1801"/>
            </a:lvl8pPr>
            <a:lvl9pPr>
              <a:defRPr sz="1801"/>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97603" y="1600208"/>
            <a:ext cx="5384802" cy="4525963"/>
          </a:xfrm>
        </p:spPr>
        <p:txBody>
          <a:bodyPr/>
          <a:lstStyle>
            <a:lvl1pPr>
              <a:defRPr sz="2798"/>
            </a:lvl1pPr>
            <a:lvl2pPr>
              <a:defRPr sz="2400"/>
            </a:lvl2pPr>
            <a:lvl3pPr>
              <a:defRPr sz="2000"/>
            </a:lvl3pPr>
            <a:lvl4pPr>
              <a:defRPr sz="1801"/>
            </a:lvl4pPr>
            <a:lvl5pPr>
              <a:defRPr sz="1801"/>
            </a:lvl5pPr>
            <a:lvl6pPr>
              <a:defRPr sz="1801"/>
            </a:lvl6pPr>
            <a:lvl7pPr>
              <a:defRPr sz="1801"/>
            </a:lvl7pPr>
            <a:lvl8pPr>
              <a:defRPr sz="1801"/>
            </a:lvl8pPr>
            <a:lvl9pPr>
              <a:defRPr sz="1801"/>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F5598B83-A3FD-4502-8A7A-935972931526}" type="slidenum">
              <a:rPr lang="en-US" altLang="en-US">
                <a:solidFill>
                  <a:srgbClr val="000000"/>
                </a:solidFill>
              </a:rPr>
              <a:pPr>
                <a:defRPr/>
              </a:pPr>
              <a:t>‹Nº›</a:t>
            </a:fld>
            <a:endParaRPr lang="en-US" altLang="en-US">
              <a:solidFill>
                <a:srgbClr val="000000"/>
              </a:solidFill>
            </a:endParaRPr>
          </a:p>
        </p:txBody>
      </p:sp>
    </p:spTree>
    <p:extLst>
      <p:ext uri="{BB962C8B-B14F-4D97-AF65-F5344CB8AC3E}">
        <p14:creationId xmlns:p14="http://schemas.microsoft.com/office/powerpoint/2010/main" val="3542794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609605" y="1535114"/>
            <a:ext cx="5386917" cy="639762"/>
          </a:xfrm>
        </p:spPr>
        <p:txBody>
          <a:bodyPr anchor="b"/>
          <a:lstStyle>
            <a:lvl1pPr marL="0" indent="0">
              <a:buNone/>
              <a:defRPr sz="2400" b="1"/>
            </a:lvl1pPr>
            <a:lvl2pPr marL="457177" indent="0">
              <a:buNone/>
              <a:defRPr sz="2000" b="1"/>
            </a:lvl2pPr>
            <a:lvl3pPr marL="914355" indent="0">
              <a:buNone/>
              <a:defRPr sz="1801" b="1"/>
            </a:lvl3pPr>
            <a:lvl4pPr marL="1371532" indent="0">
              <a:buNone/>
              <a:defRPr sz="1600" b="1"/>
            </a:lvl4pPr>
            <a:lvl5pPr marL="1828707" indent="0">
              <a:buNone/>
              <a:defRPr sz="1600" b="1"/>
            </a:lvl5pPr>
            <a:lvl6pPr marL="2285886" indent="0">
              <a:buNone/>
              <a:defRPr sz="1600" b="1"/>
            </a:lvl6pPr>
            <a:lvl7pPr marL="2743060" indent="0">
              <a:buNone/>
              <a:defRPr sz="1600" b="1"/>
            </a:lvl7pPr>
            <a:lvl8pPr marL="3200237" indent="0">
              <a:buNone/>
              <a:defRPr sz="1600" b="1"/>
            </a:lvl8pPr>
            <a:lvl9pPr marL="3657416"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5" y="2174875"/>
            <a:ext cx="5386917" cy="3951288"/>
          </a:xfrm>
        </p:spPr>
        <p:txBody>
          <a:bodyPr/>
          <a:lstStyle>
            <a:lvl1pPr>
              <a:defRPr sz="2400"/>
            </a:lvl1pPr>
            <a:lvl2pPr>
              <a:defRPr sz="2000"/>
            </a:lvl2pPr>
            <a:lvl3pPr>
              <a:defRPr sz="1801"/>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93379" y="1535114"/>
            <a:ext cx="5389033" cy="639762"/>
          </a:xfrm>
        </p:spPr>
        <p:txBody>
          <a:bodyPr anchor="b"/>
          <a:lstStyle>
            <a:lvl1pPr marL="0" indent="0">
              <a:buNone/>
              <a:defRPr sz="2400" b="1"/>
            </a:lvl1pPr>
            <a:lvl2pPr marL="457177" indent="0">
              <a:buNone/>
              <a:defRPr sz="2000" b="1"/>
            </a:lvl2pPr>
            <a:lvl3pPr marL="914355" indent="0">
              <a:buNone/>
              <a:defRPr sz="1801" b="1"/>
            </a:lvl3pPr>
            <a:lvl4pPr marL="1371532" indent="0">
              <a:buNone/>
              <a:defRPr sz="1600" b="1"/>
            </a:lvl4pPr>
            <a:lvl5pPr marL="1828707" indent="0">
              <a:buNone/>
              <a:defRPr sz="1600" b="1"/>
            </a:lvl5pPr>
            <a:lvl6pPr marL="2285886" indent="0">
              <a:buNone/>
              <a:defRPr sz="1600" b="1"/>
            </a:lvl6pPr>
            <a:lvl7pPr marL="2743060" indent="0">
              <a:buNone/>
              <a:defRPr sz="1600" b="1"/>
            </a:lvl7pPr>
            <a:lvl8pPr marL="3200237" indent="0">
              <a:buNone/>
              <a:defRPr sz="1600" b="1"/>
            </a:lvl8pPr>
            <a:lvl9pPr marL="3657416"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79" y="2174875"/>
            <a:ext cx="5389033" cy="3951288"/>
          </a:xfrm>
        </p:spPr>
        <p:txBody>
          <a:bodyPr/>
          <a:lstStyle>
            <a:lvl1pPr>
              <a:defRPr sz="2400"/>
            </a:lvl1pPr>
            <a:lvl2pPr>
              <a:defRPr sz="2000"/>
            </a:lvl2pPr>
            <a:lvl3pPr>
              <a:defRPr sz="1801"/>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BE62BCA5-E035-4048-84FD-063B69562FC5}" type="slidenum">
              <a:rPr lang="en-US" altLang="en-US">
                <a:solidFill>
                  <a:srgbClr val="000000"/>
                </a:solidFill>
              </a:rPr>
              <a:pPr>
                <a:defRPr/>
              </a:pPr>
              <a:t>‹Nº›</a:t>
            </a:fld>
            <a:endParaRPr lang="en-US" altLang="en-US">
              <a:solidFill>
                <a:srgbClr val="000000"/>
              </a:solidFill>
            </a:endParaRPr>
          </a:p>
        </p:txBody>
      </p:sp>
    </p:spTree>
    <p:extLst>
      <p:ext uri="{BB962C8B-B14F-4D97-AF65-F5344CB8AC3E}">
        <p14:creationId xmlns:p14="http://schemas.microsoft.com/office/powerpoint/2010/main" val="248662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56CA29A8-9AAC-4887-AAED-6EA96DA27849}" type="slidenum">
              <a:rPr lang="en-US" altLang="en-US">
                <a:solidFill>
                  <a:srgbClr val="000000"/>
                </a:solidFill>
              </a:rPr>
              <a:pPr>
                <a:defRPr/>
              </a:pPr>
              <a:t>‹Nº›</a:t>
            </a:fld>
            <a:endParaRPr lang="en-US" altLang="en-US">
              <a:solidFill>
                <a:srgbClr val="000000"/>
              </a:solidFill>
            </a:endParaRPr>
          </a:p>
        </p:txBody>
      </p:sp>
    </p:spTree>
    <p:extLst>
      <p:ext uri="{BB962C8B-B14F-4D97-AF65-F5344CB8AC3E}">
        <p14:creationId xmlns:p14="http://schemas.microsoft.com/office/powerpoint/2010/main" val="3568993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E6C56067-4C7C-45DA-975B-8F98D9AF2F3B}" type="slidenum">
              <a:rPr lang="en-US" altLang="en-US">
                <a:solidFill>
                  <a:srgbClr val="000000"/>
                </a:solidFill>
              </a:rPr>
              <a:pPr>
                <a:defRPr/>
              </a:pPr>
              <a:t>‹Nº›</a:t>
            </a:fld>
            <a:endParaRPr lang="en-US" altLang="en-US">
              <a:solidFill>
                <a:srgbClr val="000000"/>
              </a:solidFill>
            </a:endParaRPr>
          </a:p>
        </p:txBody>
      </p:sp>
    </p:spTree>
    <p:extLst>
      <p:ext uri="{BB962C8B-B14F-4D97-AF65-F5344CB8AC3E}">
        <p14:creationId xmlns:p14="http://schemas.microsoft.com/office/powerpoint/2010/main" val="3363223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50"/>
            <a:ext cx="401108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4766737" y="273063"/>
            <a:ext cx="6815668" cy="5853113"/>
          </a:xfrm>
        </p:spPr>
        <p:txBody>
          <a:bodyPr/>
          <a:lstStyle>
            <a:lvl1pPr>
              <a:defRPr sz="3202"/>
            </a:lvl1pPr>
            <a:lvl2pPr>
              <a:defRPr sz="2798"/>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609605" y="1435105"/>
            <a:ext cx="4011083" cy="4691063"/>
          </a:xfrm>
        </p:spPr>
        <p:txBody>
          <a:bodyPr/>
          <a:lstStyle>
            <a:lvl1pPr marL="0" indent="0">
              <a:buNone/>
              <a:defRPr sz="1401"/>
            </a:lvl1pPr>
            <a:lvl2pPr marL="457177" indent="0">
              <a:buNone/>
              <a:defRPr sz="1202"/>
            </a:lvl2pPr>
            <a:lvl3pPr marL="914355" indent="0">
              <a:buNone/>
              <a:defRPr sz="1001"/>
            </a:lvl3pPr>
            <a:lvl4pPr marL="1371532" indent="0">
              <a:buNone/>
              <a:defRPr sz="900"/>
            </a:lvl4pPr>
            <a:lvl5pPr marL="1828707" indent="0">
              <a:buNone/>
              <a:defRPr sz="900"/>
            </a:lvl5pPr>
            <a:lvl6pPr marL="2285886" indent="0">
              <a:buNone/>
              <a:defRPr sz="900"/>
            </a:lvl6pPr>
            <a:lvl7pPr marL="2743060" indent="0">
              <a:buNone/>
              <a:defRPr sz="900"/>
            </a:lvl7pPr>
            <a:lvl8pPr marL="3200237" indent="0">
              <a:buNone/>
              <a:defRPr sz="900"/>
            </a:lvl8pPr>
            <a:lvl9pPr marL="3657416"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5ED2FF58-7D62-40CF-9678-BBD2702AD073}" type="slidenum">
              <a:rPr lang="en-US" altLang="en-US">
                <a:solidFill>
                  <a:srgbClr val="000000"/>
                </a:solidFill>
              </a:rPr>
              <a:pPr>
                <a:defRPr/>
              </a:pPr>
              <a:t>‹Nº›</a:t>
            </a:fld>
            <a:endParaRPr lang="en-US" altLang="en-US">
              <a:solidFill>
                <a:srgbClr val="000000"/>
              </a:solidFill>
            </a:endParaRPr>
          </a:p>
        </p:txBody>
      </p:sp>
    </p:spTree>
    <p:extLst>
      <p:ext uri="{BB962C8B-B14F-4D97-AF65-F5344CB8AC3E}">
        <p14:creationId xmlns:p14="http://schemas.microsoft.com/office/powerpoint/2010/main" val="1205888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6" y="4800600"/>
            <a:ext cx="73152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2389716" y="612775"/>
            <a:ext cx="7315200" cy="4114800"/>
          </a:xfrm>
        </p:spPr>
        <p:txBody>
          <a:bodyPr/>
          <a:lstStyle>
            <a:lvl1pPr marL="0" indent="0">
              <a:buNone/>
              <a:defRPr sz="3202"/>
            </a:lvl1pPr>
            <a:lvl2pPr marL="457177" indent="0">
              <a:buNone/>
              <a:defRPr sz="2798"/>
            </a:lvl2pPr>
            <a:lvl3pPr marL="914355" indent="0">
              <a:buNone/>
              <a:defRPr sz="2400"/>
            </a:lvl3pPr>
            <a:lvl4pPr marL="1371532" indent="0">
              <a:buNone/>
              <a:defRPr sz="2000"/>
            </a:lvl4pPr>
            <a:lvl5pPr marL="1828707" indent="0">
              <a:buNone/>
              <a:defRPr sz="2000"/>
            </a:lvl5pPr>
            <a:lvl6pPr marL="2285886" indent="0">
              <a:buNone/>
              <a:defRPr sz="2000"/>
            </a:lvl6pPr>
            <a:lvl7pPr marL="2743060" indent="0">
              <a:buNone/>
              <a:defRPr sz="2000"/>
            </a:lvl7pPr>
            <a:lvl8pPr marL="3200237" indent="0">
              <a:buNone/>
              <a:defRPr sz="2000"/>
            </a:lvl8pPr>
            <a:lvl9pPr marL="3657416" indent="0">
              <a:buNone/>
              <a:defRPr sz="2000"/>
            </a:lvl9pPr>
          </a:lstStyle>
          <a:p>
            <a:pPr lvl="0"/>
            <a:endParaRPr lang="en-GB" noProof="0" smtClean="0"/>
          </a:p>
        </p:txBody>
      </p:sp>
      <p:sp>
        <p:nvSpPr>
          <p:cNvPr id="4" name="Text Placeholder 3"/>
          <p:cNvSpPr>
            <a:spLocks noGrp="1"/>
          </p:cNvSpPr>
          <p:nvPr>
            <p:ph type="body" sz="half" idx="2"/>
          </p:nvPr>
        </p:nvSpPr>
        <p:spPr>
          <a:xfrm>
            <a:off x="2389716" y="5367338"/>
            <a:ext cx="7315200" cy="804862"/>
          </a:xfrm>
        </p:spPr>
        <p:txBody>
          <a:bodyPr/>
          <a:lstStyle>
            <a:lvl1pPr marL="0" indent="0">
              <a:buNone/>
              <a:defRPr sz="1401"/>
            </a:lvl1pPr>
            <a:lvl2pPr marL="457177" indent="0">
              <a:buNone/>
              <a:defRPr sz="1202"/>
            </a:lvl2pPr>
            <a:lvl3pPr marL="914355" indent="0">
              <a:buNone/>
              <a:defRPr sz="1001"/>
            </a:lvl3pPr>
            <a:lvl4pPr marL="1371532" indent="0">
              <a:buNone/>
              <a:defRPr sz="900"/>
            </a:lvl4pPr>
            <a:lvl5pPr marL="1828707" indent="0">
              <a:buNone/>
              <a:defRPr sz="900"/>
            </a:lvl5pPr>
            <a:lvl6pPr marL="2285886" indent="0">
              <a:buNone/>
              <a:defRPr sz="900"/>
            </a:lvl6pPr>
            <a:lvl7pPr marL="2743060" indent="0">
              <a:buNone/>
              <a:defRPr sz="900"/>
            </a:lvl7pPr>
            <a:lvl8pPr marL="3200237" indent="0">
              <a:buNone/>
              <a:defRPr sz="900"/>
            </a:lvl8pPr>
            <a:lvl9pPr marL="3657416"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F2A9690F-A31C-45DD-8B8A-0C2E1A53B740}" type="slidenum">
              <a:rPr lang="en-US" altLang="en-US">
                <a:solidFill>
                  <a:srgbClr val="000000"/>
                </a:solidFill>
              </a:rPr>
              <a:pPr>
                <a:defRPr/>
              </a:pPr>
              <a:t>‹Nº›</a:t>
            </a:fld>
            <a:endParaRPr lang="en-US" altLang="en-US">
              <a:solidFill>
                <a:srgbClr val="000000"/>
              </a:solidFill>
            </a:endParaRPr>
          </a:p>
        </p:txBody>
      </p:sp>
    </p:spTree>
    <p:extLst>
      <p:ext uri="{BB962C8B-B14F-4D97-AF65-F5344CB8AC3E}">
        <p14:creationId xmlns:p14="http://schemas.microsoft.com/office/powerpoint/2010/main" val="3534206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D84C0A52-9C4F-4AE9-9D7C-F1ED897D29EE}" type="slidenum">
              <a:rPr lang="en-US" altLang="en-US">
                <a:solidFill>
                  <a:srgbClr val="000000"/>
                </a:solidFill>
              </a:rPr>
              <a:pPr>
                <a:defRPr/>
              </a:pPr>
              <a:t>‹Nº›</a:t>
            </a:fld>
            <a:endParaRPr lang="en-US" altLang="en-US">
              <a:solidFill>
                <a:srgbClr val="000000"/>
              </a:solidFill>
            </a:endParaRPr>
          </a:p>
        </p:txBody>
      </p:sp>
    </p:spTree>
    <p:extLst>
      <p:ext uri="{BB962C8B-B14F-4D97-AF65-F5344CB8AC3E}">
        <p14:creationId xmlns:p14="http://schemas.microsoft.com/office/powerpoint/2010/main" val="2622063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3" y="274652"/>
            <a:ext cx="2743198"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09602" y="274652"/>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1955DA63-E69B-40C4-A58A-1B64417C015C}" type="slidenum">
              <a:rPr lang="en-US" altLang="en-US">
                <a:solidFill>
                  <a:srgbClr val="000000"/>
                </a:solidFill>
              </a:rPr>
              <a:pPr>
                <a:defRPr/>
              </a:pPr>
              <a:t>‹Nº›</a:t>
            </a:fld>
            <a:endParaRPr lang="en-US" altLang="en-US">
              <a:solidFill>
                <a:srgbClr val="000000"/>
              </a:solidFill>
            </a:endParaRPr>
          </a:p>
        </p:txBody>
      </p:sp>
    </p:spTree>
    <p:extLst>
      <p:ext uri="{BB962C8B-B14F-4D97-AF65-F5344CB8AC3E}">
        <p14:creationId xmlns:p14="http://schemas.microsoft.com/office/powerpoint/2010/main" val="4690023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914402" y="1122363"/>
            <a:ext cx="10363200" cy="2387600"/>
          </a:xfrm>
        </p:spPr>
        <p:txBody>
          <a:bodyPr anchor="b"/>
          <a:lstStyle>
            <a:lvl1pPr algn="ctr">
              <a:defRPr sz="3429"/>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524002" y="3602038"/>
            <a:ext cx="9144000" cy="1655762"/>
          </a:xfrm>
        </p:spPr>
        <p:txBody>
          <a:bodyPr/>
          <a:lstStyle>
            <a:lvl1pPr marL="0" indent="0" algn="ctr">
              <a:buNone/>
              <a:defRPr sz="1372"/>
            </a:lvl1pPr>
            <a:lvl2pPr marL="261297" indent="0" algn="ctr">
              <a:buNone/>
              <a:defRPr sz="1143"/>
            </a:lvl2pPr>
            <a:lvl3pPr marL="522591" indent="0" algn="ctr">
              <a:buNone/>
              <a:defRPr sz="1029"/>
            </a:lvl3pPr>
            <a:lvl4pPr marL="783889" indent="0" algn="ctr">
              <a:buNone/>
              <a:defRPr sz="914"/>
            </a:lvl4pPr>
            <a:lvl5pPr marL="1045185" indent="0" algn="ctr">
              <a:buNone/>
              <a:defRPr sz="914"/>
            </a:lvl5pPr>
            <a:lvl6pPr marL="1306480" indent="0" algn="ctr">
              <a:buNone/>
              <a:defRPr sz="914"/>
            </a:lvl6pPr>
            <a:lvl7pPr marL="1567778" indent="0" algn="ctr">
              <a:buNone/>
              <a:defRPr sz="914"/>
            </a:lvl7pPr>
            <a:lvl8pPr marL="1829074" indent="0" algn="ctr">
              <a:buNone/>
              <a:defRPr sz="914"/>
            </a:lvl8pPr>
            <a:lvl9pPr marL="2090369" indent="0" algn="ctr">
              <a:buNone/>
              <a:defRPr sz="914"/>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556B6180-419C-42B1-81D1-A05BFF3D9117}" type="datetimeFigureOut">
              <a:rPr lang="en-GB" smtClean="0">
                <a:solidFill>
                  <a:prstClr val="black">
                    <a:tint val="75000"/>
                  </a:prstClr>
                </a:solidFill>
              </a:rPr>
              <a:pPr/>
              <a:t>17/11/2025</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C0E3EC2E-ABE0-4A76-A76E-C68D921FAE3B}" type="slidenum">
              <a:rPr lang="en-GB" smtClean="0">
                <a:solidFill>
                  <a:prstClr val="black">
                    <a:tint val="75000"/>
                  </a:prstClr>
                </a:solidFill>
              </a:rPr>
              <a:pPr/>
              <a:t>‹Nº›</a:t>
            </a:fld>
            <a:endParaRPr lang="en-GB">
              <a:solidFill>
                <a:prstClr val="black">
                  <a:tint val="75000"/>
                </a:prstClr>
              </a:solidFill>
            </a:endParaRPr>
          </a:p>
        </p:txBody>
      </p:sp>
    </p:spTree>
    <p:extLst>
      <p:ext uri="{BB962C8B-B14F-4D97-AF65-F5344CB8AC3E}">
        <p14:creationId xmlns:p14="http://schemas.microsoft.com/office/powerpoint/2010/main" val="28489629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56B6180-419C-42B1-81D1-A05BFF3D9117}" type="datetimeFigureOut">
              <a:rPr lang="en-GB" smtClean="0">
                <a:solidFill>
                  <a:prstClr val="black">
                    <a:tint val="75000"/>
                  </a:prstClr>
                </a:solidFill>
              </a:rPr>
              <a:pPr/>
              <a:t>17/11/2025</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C0E3EC2E-ABE0-4A76-A76E-C68D921FAE3B}" type="slidenum">
              <a:rPr lang="en-GB" smtClean="0">
                <a:solidFill>
                  <a:prstClr val="black">
                    <a:tint val="75000"/>
                  </a:prstClr>
                </a:solidFill>
              </a:rPr>
              <a:pPr/>
              <a:t>‹Nº›</a:t>
            </a:fld>
            <a:endParaRPr lang="en-GB">
              <a:solidFill>
                <a:prstClr val="black">
                  <a:tint val="75000"/>
                </a:prstClr>
              </a:solidFill>
            </a:endParaRPr>
          </a:p>
        </p:txBody>
      </p:sp>
    </p:spTree>
    <p:extLst>
      <p:ext uri="{BB962C8B-B14F-4D97-AF65-F5344CB8AC3E}">
        <p14:creationId xmlns:p14="http://schemas.microsoft.com/office/powerpoint/2010/main" val="6407779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4" y="1709742"/>
            <a:ext cx="10515598" cy="2852737"/>
          </a:xfrm>
        </p:spPr>
        <p:txBody>
          <a:bodyPr anchor="b"/>
          <a:lstStyle>
            <a:lvl1pPr>
              <a:defRPr sz="3429"/>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831854" y="4589466"/>
            <a:ext cx="10515598" cy="1500187"/>
          </a:xfrm>
        </p:spPr>
        <p:txBody>
          <a:bodyPr/>
          <a:lstStyle>
            <a:lvl1pPr marL="0" indent="0">
              <a:buNone/>
              <a:defRPr sz="1372">
                <a:solidFill>
                  <a:schemeClr val="tx1"/>
                </a:solidFill>
              </a:defRPr>
            </a:lvl1pPr>
            <a:lvl2pPr marL="261297" indent="0">
              <a:buNone/>
              <a:defRPr sz="1143">
                <a:solidFill>
                  <a:schemeClr val="tx1">
                    <a:tint val="75000"/>
                  </a:schemeClr>
                </a:solidFill>
              </a:defRPr>
            </a:lvl2pPr>
            <a:lvl3pPr marL="522591" indent="0">
              <a:buNone/>
              <a:defRPr sz="1029">
                <a:solidFill>
                  <a:schemeClr val="tx1">
                    <a:tint val="75000"/>
                  </a:schemeClr>
                </a:solidFill>
              </a:defRPr>
            </a:lvl3pPr>
            <a:lvl4pPr marL="783889" indent="0">
              <a:buNone/>
              <a:defRPr sz="914">
                <a:solidFill>
                  <a:schemeClr val="tx1">
                    <a:tint val="75000"/>
                  </a:schemeClr>
                </a:solidFill>
              </a:defRPr>
            </a:lvl4pPr>
            <a:lvl5pPr marL="1045185" indent="0">
              <a:buNone/>
              <a:defRPr sz="914">
                <a:solidFill>
                  <a:schemeClr val="tx1">
                    <a:tint val="75000"/>
                  </a:schemeClr>
                </a:solidFill>
              </a:defRPr>
            </a:lvl5pPr>
            <a:lvl6pPr marL="1306480" indent="0">
              <a:buNone/>
              <a:defRPr sz="914">
                <a:solidFill>
                  <a:schemeClr val="tx1">
                    <a:tint val="75000"/>
                  </a:schemeClr>
                </a:solidFill>
              </a:defRPr>
            </a:lvl6pPr>
            <a:lvl7pPr marL="1567778" indent="0">
              <a:buNone/>
              <a:defRPr sz="914">
                <a:solidFill>
                  <a:schemeClr val="tx1">
                    <a:tint val="75000"/>
                  </a:schemeClr>
                </a:solidFill>
              </a:defRPr>
            </a:lvl7pPr>
            <a:lvl8pPr marL="1829074" indent="0">
              <a:buNone/>
              <a:defRPr sz="914">
                <a:solidFill>
                  <a:schemeClr val="tx1">
                    <a:tint val="75000"/>
                  </a:schemeClr>
                </a:solidFill>
              </a:defRPr>
            </a:lvl8pPr>
            <a:lvl9pPr marL="2090369" indent="0">
              <a:buNone/>
              <a:defRPr sz="914">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556B6180-419C-42B1-81D1-A05BFF3D9117}" type="datetimeFigureOut">
              <a:rPr lang="en-GB" smtClean="0">
                <a:solidFill>
                  <a:prstClr val="black">
                    <a:tint val="75000"/>
                  </a:prstClr>
                </a:solidFill>
              </a:rPr>
              <a:pPr/>
              <a:t>17/11/2025</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C0E3EC2E-ABE0-4A76-A76E-C68D921FAE3B}" type="slidenum">
              <a:rPr lang="en-GB" smtClean="0">
                <a:solidFill>
                  <a:prstClr val="black">
                    <a:tint val="75000"/>
                  </a:prstClr>
                </a:solidFill>
              </a:rPr>
              <a:pPr/>
              <a:t>‹Nº›</a:t>
            </a:fld>
            <a:endParaRPr lang="en-GB">
              <a:solidFill>
                <a:prstClr val="black">
                  <a:tint val="75000"/>
                </a:prstClr>
              </a:solidFill>
            </a:endParaRPr>
          </a:p>
        </p:txBody>
      </p:sp>
    </p:spTree>
    <p:extLst>
      <p:ext uri="{BB962C8B-B14F-4D97-AF65-F5344CB8AC3E}">
        <p14:creationId xmlns:p14="http://schemas.microsoft.com/office/powerpoint/2010/main" val="36487499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556B6180-419C-42B1-81D1-A05BFF3D9117}" type="datetimeFigureOut">
              <a:rPr lang="en-GB" smtClean="0">
                <a:solidFill>
                  <a:prstClr val="black">
                    <a:tint val="75000"/>
                  </a:prstClr>
                </a:solidFill>
              </a:rPr>
              <a:pPr/>
              <a:t>17/11/2025</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C0E3EC2E-ABE0-4A76-A76E-C68D921FAE3B}" type="slidenum">
              <a:rPr lang="en-GB" smtClean="0">
                <a:solidFill>
                  <a:prstClr val="black">
                    <a:tint val="75000"/>
                  </a:prstClr>
                </a:solidFill>
              </a:rPr>
              <a:pPr/>
              <a:t>‹Nº›</a:t>
            </a:fld>
            <a:endParaRPr lang="en-GB">
              <a:solidFill>
                <a:prstClr val="black">
                  <a:tint val="75000"/>
                </a:prstClr>
              </a:solidFill>
            </a:endParaRPr>
          </a:p>
        </p:txBody>
      </p:sp>
    </p:spTree>
    <p:extLst>
      <p:ext uri="{BB962C8B-B14F-4D97-AF65-F5344CB8AC3E}">
        <p14:creationId xmlns:p14="http://schemas.microsoft.com/office/powerpoint/2010/main" val="23030725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90" y="365128"/>
            <a:ext cx="10515598" cy="1325563"/>
          </a:xfrm>
        </p:spPr>
        <p:txBody>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839790" y="1681163"/>
            <a:ext cx="5157788" cy="823912"/>
          </a:xfrm>
        </p:spPr>
        <p:txBody>
          <a:bodyPr anchor="b"/>
          <a:lstStyle>
            <a:lvl1pPr marL="0" indent="0">
              <a:buNone/>
              <a:defRPr sz="1372" b="1"/>
            </a:lvl1pPr>
            <a:lvl2pPr marL="261297" indent="0">
              <a:buNone/>
              <a:defRPr sz="1143" b="1"/>
            </a:lvl2pPr>
            <a:lvl3pPr marL="522591" indent="0">
              <a:buNone/>
              <a:defRPr sz="1029" b="1"/>
            </a:lvl3pPr>
            <a:lvl4pPr marL="783889" indent="0">
              <a:buNone/>
              <a:defRPr sz="914" b="1"/>
            </a:lvl4pPr>
            <a:lvl5pPr marL="1045185" indent="0">
              <a:buNone/>
              <a:defRPr sz="914" b="1"/>
            </a:lvl5pPr>
            <a:lvl6pPr marL="1306480" indent="0">
              <a:buNone/>
              <a:defRPr sz="914" b="1"/>
            </a:lvl6pPr>
            <a:lvl7pPr marL="1567778" indent="0">
              <a:buNone/>
              <a:defRPr sz="914" b="1"/>
            </a:lvl7pPr>
            <a:lvl8pPr marL="1829074" indent="0">
              <a:buNone/>
              <a:defRPr sz="914" b="1"/>
            </a:lvl8pPr>
            <a:lvl9pPr marL="2090369" indent="0">
              <a:buNone/>
              <a:defRPr sz="914" b="1"/>
            </a:lvl9pPr>
          </a:lstStyle>
          <a:p>
            <a:pPr lvl="0"/>
            <a:r>
              <a:rPr lang="es-ES" smtClean="0"/>
              <a:t>Haga clic para modificar el estilo de texto del patrón</a:t>
            </a:r>
          </a:p>
        </p:txBody>
      </p:sp>
      <p:sp>
        <p:nvSpPr>
          <p:cNvPr id="4" name="Content Placeholder 3"/>
          <p:cNvSpPr>
            <a:spLocks noGrp="1"/>
          </p:cNvSpPr>
          <p:nvPr>
            <p:ph sz="half" idx="2"/>
          </p:nvPr>
        </p:nvSpPr>
        <p:spPr>
          <a:xfrm>
            <a:off x="839790" y="2505076"/>
            <a:ext cx="5157788"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6172203" y="1681163"/>
            <a:ext cx="5183188" cy="823912"/>
          </a:xfrm>
        </p:spPr>
        <p:txBody>
          <a:bodyPr anchor="b"/>
          <a:lstStyle>
            <a:lvl1pPr marL="0" indent="0">
              <a:buNone/>
              <a:defRPr sz="1372" b="1"/>
            </a:lvl1pPr>
            <a:lvl2pPr marL="261297" indent="0">
              <a:buNone/>
              <a:defRPr sz="1143" b="1"/>
            </a:lvl2pPr>
            <a:lvl3pPr marL="522591" indent="0">
              <a:buNone/>
              <a:defRPr sz="1029" b="1"/>
            </a:lvl3pPr>
            <a:lvl4pPr marL="783889" indent="0">
              <a:buNone/>
              <a:defRPr sz="914" b="1"/>
            </a:lvl4pPr>
            <a:lvl5pPr marL="1045185" indent="0">
              <a:buNone/>
              <a:defRPr sz="914" b="1"/>
            </a:lvl5pPr>
            <a:lvl6pPr marL="1306480" indent="0">
              <a:buNone/>
              <a:defRPr sz="914" b="1"/>
            </a:lvl6pPr>
            <a:lvl7pPr marL="1567778" indent="0">
              <a:buNone/>
              <a:defRPr sz="914" b="1"/>
            </a:lvl7pPr>
            <a:lvl8pPr marL="1829074" indent="0">
              <a:buNone/>
              <a:defRPr sz="914" b="1"/>
            </a:lvl8pPr>
            <a:lvl9pPr marL="2090369" indent="0">
              <a:buNone/>
              <a:defRPr sz="914"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6172203" y="2505076"/>
            <a:ext cx="5183188"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556B6180-419C-42B1-81D1-A05BFF3D9117}" type="datetimeFigureOut">
              <a:rPr lang="en-GB" smtClean="0">
                <a:solidFill>
                  <a:prstClr val="black">
                    <a:tint val="75000"/>
                  </a:prstClr>
                </a:solidFill>
              </a:rPr>
              <a:pPr/>
              <a:t>17/11/2025</a:t>
            </a:fld>
            <a:endParaRPr lang="en-GB">
              <a:solidFill>
                <a:prstClr val="black">
                  <a:tint val="75000"/>
                </a:prstClr>
              </a:solidFill>
            </a:endParaRPr>
          </a:p>
        </p:txBody>
      </p:sp>
      <p:sp>
        <p:nvSpPr>
          <p:cNvPr id="8" name="Footer Placeholder 7"/>
          <p:cNvSpPr>
            <a:spLocks noGrp="1"/>
          </p:cNvSpPr>
          <p:nvPr>
            <p:ph type="ftr" sz="quarter" idx="11"/>
          </p:nvPr>
        </p:nvSpPr>
        <p:spPr/>
        <p:txBody>
          <a:bodyPr/>
          <a:lstStyle/>
          <a:p>
            <a:endParaRPr lang="en-GB">
              <a:solidFill>
                <a:prstClr val="black">
                  <a:tint val="75000"/>
                </a:prstClr>
              </a:solidFill>
            </a:endParaRPr>
          </a:p>
        </p:txBody>
      </p:sp>
      <p:sp>
        <p:nvSpPr>
          <p:cNvPr id="9" name="Slide Number Placeholder 8"/>
          <p:cNvSpPr>
            <a:spLocks noGrp="1"/>
          </p:cNvSpPr>
          <p:nvPr>
            <p:ph type="sldNum" sz="quarter" idx="12"/>
          </p:nvPr>
        </p:nvSpPr>
        <p:spPr/>
        <p:txBody>
          <a:bodyPr/>
          <a:lstStyle/>
          <a:p>
            <a:fld id="{C0E3EC2E-ABE0-4A76-A76E-C68D921FAE3B}" type="slidenum">
              <a:rPr lang="en-GB" smtClean="0">
                <a:solidFill>
                  <a:prstClr val="black">
                    <a:tint val="75000"/>
                  </a:prstClr>
                </a:solidFill>
              </a:rPr>
              <a:pPr/>
              <a:t>‹Nº›</a:t>
            </a:fld>
            <a:endParaRPr lang="en-GB">
              <a:solidFill>
                <a:prstClr val="black">
                  <a:tint val="75000"/>
                </a:prstClr>
              </a:solidFill>
            </a:endParaRPr>
          </a:p>
        </p:txBody>
      </p:sp>
    </p:spTree>
    <p:extLst>
      <p:ext uri="{BB962C8B-B14F-4D97-AF65-F5344CB8AC3E}">
        <p14:creationId xmlns:p14="http://schemas.microsoft.com/office/powerpoint/2010/main" val="3876219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556B6180-419C-42B1-81D1-A05BFF3D9117}" type="datetimeFigureOut">
              <a:rPr lang="en-GB" smtClean="0">
                <a:solidFill>
                  <a:prstClr val="black">
                    <a:tint val="75000"/>
                  </a:prstClr>
                </a:solidFill>
              </a:rPr>
              <a:pPr/>
              <a:t>17/11/2025</a:t>
            </a:fld>
            <a:endParaRPr lang="en-GB">
              <a:solidFill>
                <a:prstClr val="black">
                  <a:tint val="75000"/>
                </a:prstClr>
              </a:solidFill>
            </a:endParaRPr>
          </a:p>
        </p:txBody>
      </p:sp>
      <p:sp>
        <p:nvSpPr>
          <p:cNvPr id="4" name="Footer Placeholder 3"/>
          <p:cNvSpPr>
            <a:spLocks noGrp="1"/>
          </p:cNvSpPr>
          <p:nvPr>
            <p:ph type="ftr" sz="quarter" idx="11"/>
          </p:nvPr>
        </p:nvSpPr>
        <p:spPr/>
        <p:txBody>
          <a:bodyPr/>
          <a:lstStyle/>
          <a:p>
            <a:endParaRPr lang="en-GB">
              <a:solidFill>
                <a:prstClr val="black">
                  <a:tint val="75000"/>
                </a:prstClr>
              </a:solidFill>
            </a:endParaRPr>
          </a:p>
        </p:txBody>
      </p:sp>
      <p:sp>
        <p:nvSpPr>
          <p:cNvPr id="5" name="Slide Number Placeholder 4"/>
          <p:cNvSpPr>
            <a:spLocks noGrp="1"/>
          </p:cNvSpPr>
          <p:nvPr>
            <p:ph type="sldNum" sz="quarter" idx="12"/>
          </p:nvPr>
        </p:nvSpPr>
        <p:spPr/>
        <p:txBody>
          <a:bodyPr/>
          <a:lstStyle/>
          <a:p>
            <a:fld id="{C0E3EC2E-ABE0-4A76-A76E-C68D921FAE3B}" type="slidenum">
              <a:rPr lang="en-GB" smtClean="0">
                <a:solidFill>
                  <a:prstClr val="black">
                    <a:tint val="75000"/>
                  </a:prstClr>
                </a:solidFill>
              </a:rPr>
              <a:pPr/>
              <a:t>‹Nº›</a:t>
            </a:fld>
            <a:endParaRPr lang="en-GB">
              <a:solidFill>
                <a:prstClr val="black">
                  <a:tint val="75000"/>
                </a:prstClr>
              </a:solidFill>
            </a:endParaRPr>
          </a:p>
        </p:txBody>
      </p:sp>
    </p:spTree>
    <p:extLst>
      <p:ext uri="{BB962C8B-B14F-4D97-AF65-F5344CB8AC3E}">
        <p14:creationId xmlns:p14="http://schemas.microsoft.com/office/powerpoint/2010/main" val="2570241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6B6180-419C-42B1-81D1-A05BFF3D9117}" type="datetimeFigureOut">
              <a:rPr lang="en-GB" smtClean="0">
                <a:solidFill>
                  <a:prstClr val="black">
                    <a:tint val="75000"/>
                  </a:prstClr>
                </a:solidFill>
              </a:rPr>
              <a:pPr/>
              <a:t>17/11/2025</a:t>
            </a:fld>
            <a:endParaRPr lang="en-GB">
              <a:solidFill>
                <a:prstClr val="black">
                  <a:tint val="75000"/>
                </a:prstClr>
              </a:solidFill>
            </a:endParaRPr>
          </a:p>
        </p:txBody>
      </p:sp>
      <p:sp>
        <p:nvSpPr>
          <p:cNvPr id="3" name="Footer Placeholder 2"/>
          <p:cNvSpPr>
            <a:spLocks noGrp="1"/>
          </p:cNvSpPr>
          <p:nvPr>
            <p:ph type="ftr" sz="quarter" idx="11"/>
          </p:nvPr>
        </p:nvSpPr>
        <p:spPr/>
        <p:txBody>
          <a:bodyPr/>
          <a:lstStyle/>
          <a:p>
            <a:endParaRPr lang="en-GB">
              <a:solidFill>
                <a:prstClr val="black">
                  <a:tint val="75000"/>
                </a:prstClr>
              </a:solidFill>
            </a:endParaRPr>
          </a:p>
        </p:txBody>
      </p:sp>
      <p:sp>
        <p:nvSpPr>
          <p:cNvPr id="4" name="Slide Number Placeholder 3"/>
          <p:cNvSpPr>
            <a:spLocks noGrp="1"/>
          </p:cNvSpPr>
          <p:nvPr>
            <p:ph type="sldNum" sz="quarter" idx="12"/>
          </p:nvPr>
        </p:nvSpPr>
        <p:spPr/>
        <p:txBody>
          <a:bodyPr/>
          <a:lstStyle/>
          <a:p>
            <a:fld id="{C0E3EC2E-ABE0-4A76-A76E-C68D921FAE3B}" type="slidenum">
              <a:rPr lang="en-GB" smtClean="0">
                <a:solidFill>
                  <a:prstClr val="black">
                    <a:tint val="75000"/>
                  </a:prstClr>
                </a:solidFill>
              </a:rPr>
              <a:pPr/>
              <a:t>‹Nº›</a:t>
            </a:fld>
            <a:endParaRPr lang="en-GB">
              <a:solidFill>
                <a:prstClr val="black">
                  <a:tint val="75000"/>
                </a:prstClr>
              </a:solidFill>
            </a:endParaRPr>
          </a:p>
        </p:txBody>
      </p:sp>
    </p:spTree>
    <p:extLst>
      <p:ext uri="{BB962C8B-B14F-4D97-AF65-F5344CB8AC3E}">
        <p14:creationId xmlns:p14="http://schemas.microsoft.com/office/powerpoint/2010/main" val="37246948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8" cy="1600200"/>
          </a:xfrm>
        </p:spPr>
        <p:txBody>
          <a:bodyPr anchor="b"/>
          <a:lstStyle>
            <a:lvl1pPr>
              <a:defRPr sz="1829"/>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5183190" y="987429"/>
            <a:ext cx="6172201" cy="4873625"/>
          </a:xfrm>
        </p:spPr>
        <p:txBody>
          <a:bodyPr/>
          <a:lstStyle>
            <a:lvl1pPr>
              <a:defRPr sz="1829"/>
            </a:lvl1pPr>
            <a:lvl2pPr>
              <a:defRPr sz="1600"/>
            </a:lvl2pPr>
            <a:lvl3pPr>
              <a:defRPr sz="1372"/>
            </a:lvl3pPr>
            <a:lvl4pPr>
              <a:defRPr sz="1143"/>
            </a:lvl4pPr>
            <a:lvl5pPr>
              <a:defRPr sz="1143"/>
            </a:lvl5pPr>
            <a:lvl6pPr>
              <a:defRPr sz="1143"/>
            </a:lvl6pPr>
            <a:lvl7pPr>
              <a:defRPr sz="1143"/>
            </a:lvl7pPr>
            <a:lvl8pPr>
              <a:defRPr sz="1143"/>
            </a:lvl8pPr>
            <a:lvl9pPr>
              <a:defRPr sz="1143"/>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839789" y="2057401"/>
            <a:ext cx="3932238" cy="3811588"/>
          </a:xfrm>
        </p:spPr>
        <p:txBody>
          <a:bodyPr/>
          <a:lstStyle>
            <a:lvl1pPr marL="0" indent="0">
              <a:buNone/>
              <a:defRPr sz="914"/>
            </a:lvl1pPr>
            <a:lvl2pPr marL="261297" indent="0">
              <a:buNone/>
              <a:defRPr sz="798"/>
            </a:lvl2pPr>
            <a:lvl3pPr marL="522591" indent="0">
              <a:buNone/>
              <a:defRPr sz="686"/>
            </a:lvl3pPr>
            <a:lvl4pPr marL="783889" indent="0">
              <a:buNone/>
              <a:defRPr sz="572"/>
            </a:lvl4pPr>
            <a:lvl5pPr marL="1045185" indent="0">
              <a:buNone/>
              <a:defRPr sz="572"/>
            </a:lvl5pPr>
            <a:lvl6pPr marL="1306480" indent="0">
              <a:buNone/>
              <a:defRPr sz="572"/>
            </a:lvl6pPr>
            <a:lvl7pPr marL="1567778" indent="0">
              <a:buNone/>
              <a:defRPr sz="572"/>
            </a:lvl7pPr>
            <a:lvl8pPr marL="1829074" indent="0">
              <a:buNone/>
              <a:defRPr sz="572"/>
            </a:lvl8pPr>
            <a:lvl9pPr marL="2090369" indent="0">
              <a:buNone/>
              <a:defRPr sz="572"/>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556B6180-419C-42B1-81D1-A05BFF3D9117}" type="datetimeFigureOut">
              <a:rPr lang="en-GB" smtClean="0">
                <a:solidFill>
                  <a:prstClr val="black">
                    <a:tint val="75000"/>
                  </a:prstClr>
                </a:solidFill>
              </a:rPr>
              <a:pPr/>
              <a:t>17/11/2025</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C0E3EC2E-ABE0-4A76-A76E-C68D921FAE3B}" type="slidenum">
              <a:rPr lang="en-GB" smtClean="0">
                <a:solidFill>
                  <a:prstClr val="black">
                    <a:tint val="75000"/>
                  </a:prstClr>
                </a:solidFill>
              </a:rPr>
              <a:pPr/>
              <a:t>‹Nº›</a:t>
            </a:fld>
            <a:endParaRPr lang="en-GB">
              <a:solidFill>
                <a:prstClr val="black">
                  <a:tint val="75000"/>
                </a:prstClr>
              </a:solidFill>
            </a:endParaRPr>
          </a:p>
        </p:txBody>
      </p:sp>
    </p:spTree>
    <p:extLst>
      <p:ext uri="{BB962C8B-B14F-4D97-AF65-F5344CB8AC3E}">
        <p14:creationId xmlns:p14="http://schemas.microsoft.com/office/powerpoint/2010/main" val="1178909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8" cy="1600200"/>
          </a:xfrm>
        </p:spPr>
        <p:txBody>
          <a:bodyPr anchor="b"/>
          <a:lstStyle>
            <a:lvl1pPr>
              <a:defRPr sz="1829"/>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5183190" y="987429"/>
            <a:ext cx="6172201" cy="4873625"/>
          </a:xfrm>
        </p:spPr>
        <p:txBody>
          <a:bodyPr anchor="t"/>
          <a:lstStyle>
            <a:lvl1pPr marL="0" indent="0">
              <a:buNone/>
              <a:defRPr sz="1829"/>
            </a:lvl1pPr>
            <a:lvl2pPr marL="261297" indent="0">
              <a:buNone/>
              <a:defRPr sz="1600"/>
            </a:lvl2pPr>
            <a:lvl3pPr marL="522591" indent="0">
              <a:buNone/>
              <a:defRPr sz="1372"/>
            </a:lvl3pPr>
            <a:lvl4pPr marL="783889" indent="0">
              <a:buNone/>
              <a:defRPr sz="1143"/>
            </a:lvl4pPr>
            <a:lvl5pPr marL="1045185" indent="0">
              <a:buNone/>
              <a:defRPr sz="1143"/>
            </a:lvl5pPr>
            <a:lvl6pPr marL="1306480" indent="0">
              <a:buNone/>
              <a:defRPr sz="1143"/>
            </a:lvl6pPr>
            <a:lvl7pPr marL="1567778" indent="0">
              <a:buNone/>
              <a:defRPr sz="1143"/>
            </a:lvl7pPr>
            <a:lvl8pPr marL="1829074" indent="0">
              <a:buNone/>
              <a:defRPr sz="1143"/>
            </a:lvl8pPr>
            <a:lvl9pPr marL="2090369" indent="0">
              <a:buNone/>
              <a:defRPr sz="1143"/>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839789" y="2057401"/>
            <a:ext cx="3932238" cy="3811588"/>
          </a:xfrm>
        </p:spPr>
        <p:txBody>
          <a:bodyPr/>
          <a:lstStyle>
            <a:lvl1pPr marL="0" indent="0">
              <a:buNone/>
              <a:defRPr sz="914"/>
            </a:lvl1pPr>
            <a:lvl2pPr marL="261297" indent="0">
              <a:buNone/>
              <a:defRPr sz="798"/>
            </a:lvl2pPr>
            <a:lvl3pPr marL="522591" indent="0">
              <a:buNone/>
              <a:defRPr sz="686"/>
            </a:lvl3pPr>
            <a:lvl4pPr marL="783889" indent="0">
              <a:buNone/>
              <a:defRPr sz="572"/>
            </a:lvl4pPr>
            <a:lvl5pPr marL="1045185" indent="0">
              <a:buNone/>
              <a:defRPr sz="572"/>
            </a:lvl5pPr>
            <a:lvl6pPr marL="1306480" indent="0">
              <a:buNone/>
              <a:defRPr sz="572"/>
            </a:lvl6pPr>
            <a:lvl7pPr marL="1567778" indent="0">
              <a:buNone/>
              <a:defRPr sz="572"/>
            </a:lvl7pPr>
            <a:lvl8pPr marL="1829074" indent="0">
              <a:buNone/>
              <a:defRPr sz="572"/>
            </a:lvl8pPr>
            <a:lvl9pPr marL="2090369" indent="0">
              <a:buNone/>
              <a:defRPr sz="572"/>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556B6180-419C-42B1-81D1-A05BFF3D9117}" type="datetimeFigureOut">
              <a:rPr lang="en-GB" smtClean="0">
                <a:solidFill>
                  <a:prstClr val="black">
                    <a:tint val="75000"/>
                  </a:prstClr>
                </a:solidFill>
              </a:rPr>
              <a:pPr/>
              <a:t>17/11/2025</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C0E3EC2E-ABE0-4A76-A76E-C68D921FAE3B}" type="slidenum">
              <a:rPr lang="en-GB" smtClean="0">
                <a:solidFill>
                  <a:prstClr val="black">
                    <a:tint val="75000"/>
                  </a:prstClr>
                </a:solidFill>
              </a:rPr>
              <a:pPr/>
              <a:t>‹Nº›</a:t>
            </a:fld>
            <a:endParaRPr lang="en-GB">
              <a:solidFill>
                <a:prstClr val="black">
                  <a:tint val="75000"/>
                </a:prstClr>
              </a:solidFill>
            </a:endParaRPr>
          </a:p>
        </p:txBody>
      </p:sp>
    </p:spTree>
    <p:extLst>
      <p:ext uri="{BB962C8B-B14F-4D97-AF65-F5344CB8AC3E}">
        <p14:creationId xmlns:p14="http://schemas.microsoft.com/office/powerpoint/2010/main" val="805983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56B6180-419C-42B1-81D1-A05BFF3D9117}" type="datetimeFigureOut">
              <a:rPr lang="en-GB" smtClean="0">
                <a:solidFill>
                  <a:prstClr val="black">
                    <a:tint val="75000"/>
                  </a:prstClr>
                </a:solidFill>
              </a:rPr>
              <a:pPr/>
              <a:t>17/11/2025</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C0E3EC2E-ABE0-4A76-A76E-C68D921FAE3B}" type="slidenum">
              <a:rPr lang="en-GB" smtClean="0">
                <a:solidFill>
                  <a:prstClr val="black">
                    <a:tint val="75000"/>
                  </a:prstClr>
                </a:solidFill>
              </a:rPr>
              <a:pPr/>
              <a:t>‹Nº›</a:t>
            </a:fld>
            <a:endParaRPr lang="en-GB">
              <a:solidFill>
                <a:prstClr val="black">
                  <a:tint val="75000"/>
                </a:prstClr>
              </a:solidFill>
            </a:endParaRPr>
          </a:p>
        </p:txBody>
      </p:sp>
    </p:spTree>
    <p:extLst>
      <p:ext uri="{BB962C8B-B14F-4D97-AF65-F5344CB8AC3E}">
        <p14:creationId xmlns:p14="http://schemas.microsoft.com/office/powerpoint/2010/main" val="11015328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56B6180-419C-42B1-81D1-A05BFF3D9117}" type="datetimeFigureOut">
              <a:rPr lang="en-GB" smtClean="0">
                <a:solidFill>
                  <a:prstClr val="black">
                    <a:tint val="75000"/>
                  </a:prstClr>
                </a:solidFill>
              </a:rPr>
              <a:pPr/>
              <a:t>17/11/2025</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C0E3EC2E-ABE0-4A76-A76E-C68D921FAE3B}" type="slidenum">
              <a:rPr lang="en-GB" smtClean="0">
                <a:solidFill>
                  <a:prstClr val="black">
                    <a:tint val="75000"/>
                  </a:prstClr>
                </a:solidFill>
              </a:rPr>
              <a:pPr/>
              <a:t>‹Nº›</a:t>
            </a:fld>
            <a:endParaRPr lang="en-GB">
              <a:solidFill>
                <a:prstClr val="black">
                  <a:tint val="75000"/>
                </a:prstClr>
              </a:solidFill>
            </a:endParaRPr>
          </a:p>
        </p:txBody>
      </p:sp>
    </p:spTree>
    <p:extLst>
      <p:ext uri="{BB962C8B-B14F-4D97-AF65-F5344CB8AC3E}">
        <p14:creationId xmlns:p14="http://schemas.microsoft.com/office/powerpoint/2010/main" val="1012538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1" y="274638"/>
            <a:ext cx="10972802"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1" y="1600208"/>
            <a:ext cx="10972802"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67940" name="Rectangle 4"/>
          <p:cNvSpPr>
            <a:spLocks noGrp="1" noChangeArrowheads="1"/>
          </p:cNvSpPr>
          <p:nvPr>
            <p:ph type="dt" sz="half" idx="2"/>
          </p:nvPr>
        </p:nvSpPr>
        <p:spPr bwMode="auto">
          <a:xfrm>
            <a:off x="609601" y="6245225"/>
            <a:ext cx="2844802"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1"/>
            </a:lvl1pPr>
          </a:lstStyle>
          <a:p>
            <a:pPr fontAlgn="base">
              <a:spcBef>
                <a:spcPct val="0"/>
              </a:spcBef>
              <a:spcAft>
                <a:spcPct val="0"/>
              </a:spcAft>
              <a:defRPr/>
            </a:pPr>
            <a:endParaRPr lang="en-US" altLang="en-US">
              <a:solidFill>
                <a:srgbClr val="000000"/>
              </a:solidFill>
            </a:endParaRPr>
          </a:p>
        </p:txBody>
      </p:sp>
      <p:sp>
        <p:nvSpPr>
          <p:cNvPr id="167941" name="Rectangle 5"/>
          <p:cNvSpPr>
            <a:spLocks noGrp="1" noChangeArrowheads="1"/>
          </p:cNvSpPr>
          <p:nvPr>
            <p:ph type="ftr" sz="quarter" idx="3"/>
          </p:nvPr>
        </p:nvSpPr>
        <p:spPr bwMode="auto">
          <a:xfrm>
            <a:off x="4165603" y="6245225"/>
            <a:ext cx="3860798"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1"/>
            </a:lvl1pPr>
          </a:lstStyle>
          <a:p>
            <a:pPr fontAlgn="base">
              <a:spcBef>
                <a:spcPct val="0"/>
              </a:spcBef>
              <a:spcAft>
                <a:spcPct val="0"/>
              </a:spcAft>
              <a:defRPr/>
            </a:pPr>
            <a:endParaRPr lang="en-US" altLang="en-US">
              <a:solidFill>
                <a:srgbClr val="000000"/>
              </a:solidFill>
            </a:endParaRPr>
          </a:p>
        </p:txBody>
      </p:sp>
      <p:sp>
        <p:nvSpPr>
          <p:cNvPr id="167942" name="Rectangle 6"/>
          <p:cNvSpPr>
            <a:spLocks noGrp="1" noChangeArrowheads="1"/>
          </p:cNvSpPr>
          <p:nvPr>
            <p:ph type="sldNum" sz="quarter" idx="4"/>
          </p:nvPr>
        </p:nvSpPr>
        <p:spPr bwMode="auto">
          <a:xfrm>
            <a:off x="8737601" y="6245225"/>
            <a:ext cx="2844802"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1"/>
            </a:lvl1pPr>
          </a:lstStyle>
          <a:p>
            <a:pPr fontAlgn="base">
              <a:spcBef>
                <a:spcPct val="0"/>
              </a:spcBef>
              <a:spcAft>
                <a:spcPct val="0"/>
              </a:spcAft>
              <a:defRPr/>
            </a:pPr>
            <a:fld id="{201A1DD4-C5DA-43A3-9400-F8656E6CC85F}" type="slidenum">
              <a:rPr lang="en-US" altLang="en-US">
                <a:solidFill>
                  <a:srgbClr val="000000"/>
                </a:solidFill>
              </a:rPr>
              <a:pPr fontAlgn="base">
                <a:spcBef>
                  <a:spcPct val="0"/>
                </a:spcBef>
                <a:spcAft>
                  <a:spcPct val="0"/>
                </a:spcAft>
                <a:defRPr/>
              </a:pPr>
              <a:t>‹Nº›</a:t>
            </a:fld>
            <a:endParaRPr lang="en-US" altLang="en-US">
              <a:solidFill>
                <a:srgbClr val="000000"/>
              </a:solidFill>
            </a:endParaRPr>
          </a:p>
        </p:txBody>
      </p:sp>
    </p:spTree>
    <p:extLst>
      <p:ext uri="{BB962C8B-B14F-4D97-AF65-F5344CB8AC3E}">
        <p14:creationId xmlns:p14="http://schemas.microsoft.com/office/powerpoint/2010/main" val="33417424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177" algn="ctr" rtl="0" fontAlgn="base">
        <a:spcBef>
          <a:spcPct val="0"/>
        </a:spcBef>
        <a:spcAft>
          <a:spcPct val="0"/>
        </a:spcAft>
        <a:defRPr sz="4400">
          <a:solidFill>
            <a:schemeClr val="tx2"/>
          </a:solidFill>
          <a:latin typeface="Arial" charset="0"/>
        </a:defRPr>
      </a:lvl6pPr>
      <a:lvl7pPr marL="914355" algn="ctr" rtl="0" fontAlgn="base">
        <a:spcBef>
          <a:spcPct val="0"/>
        </a:spcBef>
        <a:spcAft>
          <a:spcPct val="0"/>
        </a:spcAft>
        <a:defRPr sz="4400">
          <a:solidFill>
            <a:schemeClr val="tx2"/>
          </a:solidFill>
          <a:latin typeface="Arial" charset="0"/>
        </a:defRPr>
      </a:lvl7pPr>
      <a:lvl8pPr marL="1371532" algn="ctr" rtl="0" fontAlgn="base">
        <a:spcBef>
          <a:spcPct val="0"/>
        </a:spcBef>
        <a:spcAft>
          <a:spcPct val="0"/>
        </a:spcAft>
        <a:defRPr sz="4400">
          <a:solidFill>
            <a:schemeClr val="tx2"/>
          </a:solidFill>
          <a:latin typeface="Arial" charset="0"/>
        </a:defRPr>
      </a:lvl8pPr>
      <a:lvl9pPr marL="1828707" algn="ctr" rtl="0" fontAlgn="base">
        <a:spcBef>
          <a:spcPct val="0"/>
        </a:spcBef>
        <a:spcAft>
          <a:spcPct val="0"/>
        </a:spcAft>
        <a:defRPr sz="4400">
          <a:solidFill>
            <a:schemeClr val="tx2"/>
          </a:solidFill>
          <a:latin typeface="Arial" charset="0"/>
        </a:defRPr>
      </a:lvl9pPr>
    </p:titleStyle>
    <p:bodyStyle>
      <a:lvl1pPr marL="342883" indent="-342883" algn="l" rtl="0" eaLnBrk="0" fontAlgn="base" hangingPunct="0">
        <a:spcBef>
          <a:spcPct val="20000"/>
        </a:spcBef>
        <a:spcAft>
          <a:spcPct val="0"/>
        </a:spcAft>
        <a:buChar char="•"/>
        <a:defRPr sz="3202">
          <a:solidFill>
            <a:schemeClr val="tx1"/>
          </a:solidFill>
          <a:latin typeface="+mn-lt"/>
          <a:ea typeface="+mn-ea"/>
          <a:cs typeface="+mn-cs"/>
        </a:defRPr>
      </a:lvl1pPr>
      <a:lvl2pPr marL="742912" indent="-285737" algn="l" rtl="0" eaLnBrk="0" fontAlgn="base" hangingPunct="0">
        <a:spcBef>
          <a:spcPct val="20000"/>
        </a:spcBef>
        <a:spcAft>
          <a:spcPct val="0"/>
        </a:spcAft>
        <a:buChar char="–"/>
        <a:defRPr sz="2798">
          <a:solidFill>
            <a:schemeClr val="tx1"/>
          </a:solidFill>
          <a:latin typeface="+mn-lt"/>
        </a:defRPr>
      </a:lvl2pPr>
      <a:lvl3pPr marL="1142942" indent="-228590" algn="l" rtl="0" eaLnBrk="0" fontAlgn="base" hangingPunct="0">
        <a:spcBef>
          <a:spcPct val="20000"/>
        </a:spcBef>
        <a:spcAft>
          <a:spcPct val="0"/>
        </a:spcAft>
        <a:buChar char="•"/>
        <a:defRPr sz="2400">
          <a:solidFill>
            <a:schemeClr val="tx1"/>
          </a:solidFill>
          <a:latin typeface="+mn-lt"/>
        </a:defRPr>
      </a:lvl3pPr>
      <a:lvl4pPr marL="1600118" indent="-228590" algn="l" rtl="0" eaLnBrk="0" fontAlgn="base" hangingPunct="0">
        <a:spcBef>
          <a:spcPct val="20000"/>
        </a:spcBef>
        <a:spcAft>
          <a:spcPct val="0"/>
        </a:spcAft>
        <a:buChar char="–"/>
        <a:defRPr sz="2000">
          <a:solidFill>
            <a:schemeClr val="tx1"/>
          </a:solidFill>
          <a:latin typeface="+mn-lt"/>
        </a:defRPr>
      </a:lvl4pPr>
      <a:lvl5pPr marL="2057297" indent="-228590" algn="l" rtl="0" eaLnBrk="0" fontAlgn="base" hangingPunct="0">
        <a:spcBef>
          <a:spcPct val="20000"/>
        </a:spcBef>
        <a:spcAft>
          <a:spcPct val="0"/>
        </a:spcAft>
        <a:buChar char="»"/>
        <a:defRPr sz="2000">
          <a:solidFill>
            <a:schemeClr val="tx1"/>
          </a:solidFill>
          <a:latin typeface="+mn-lt"/>
        </a:defRPr>
      </a:lvl5pPr>
      <a:lvl6pPr marL="2514472" indent="-228590" algn="l" rtl="0" fontAlgn="base">
        <a:spcBef>
          <a:spcPct val="20000"/>
        </a:spcBef>
        <a:spcAft>
          <a:spcPct val="0"/>
        </a:spcAft>
        <a:buChar char="»"/>
        <a:defRPr sz="2000">
          <a:solidFill>
            <a:schemeClr val="tx1"/>
          </a:solidFill>
          <a:latin typeface="+mn-lt"/>
        </a:defRPr>
      </a:lvl6pPr>
      <a:lvl7pPr marL="2971650" indent="-228590" algn="l" rtl="0" fontAlgn="base">
        <a:spcBef>
          <a:spcPct val="20000"/>
        </a:spcBef>
        <a:spcAft>
          <a:spcPct val="0"/>
        </a:spcAft>
        <a:buChar char="»"/>
        <a:defRPr sz="2000">
          <a:solidFill>
            <a:schemeClr val="tx1"/>
          </a:solidFill>
          <a:latin typeface="+mn-lt"/>
        </a:defRPr>
      </a:lvl7pPr>
      <a:lvl8pPr marL="3428827" indent="-228590" algn="l" rtl="0" fontAlgn="base">
        <a:spcBef>
          <a:spcPct val="20000"/>
        </a:spcBef>
        <a:spcAft>
          <a:spcPct val="0"/>
        </a:spcAft>
        <a:buChar char="»"/>
        <a:defRPr sz="2000">
          <a:solidFill>
            <a:schemeClr val="tx1"/>
          </a:solidFill>
          <a:latin typeface="+mn-lt"/>
        </a:defRPr>
      </a:lvl8pPr>
      <a:lvl9pPr marL="3886004" indent="-22859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355" rtl="0" eaLnBrk="1" latinLnBrk="0" hangingPunct="1">
        <a:defRPr sz="1801" kern="1200">
          <a:solidFill>
            <a:schemeClr val="tx1"/>
          </a:solidFill>
          <a:latin typeface="+mn-lt"/>
          <a:ea typeface="+mn-ea"/>
          <a:cs typeface="+mn-cs"/>
        </a:defRPr>
      </a:lvl1pPr>
      <a:lvl2pPr marL="457177" algn="l" defTabSz="914355" rtl="0" eaLnBrk="1" latinLnBrk="0" hangingPunct="1">
        <a:defRPr sz="1801" kern="1200">
          <a:solidFill>
            <a:schemeClr val="tx1"/>
          </a:solidFill>
          <a:latin typeface="+mn-lt"/>
          <a:ea typeface="+mn-ea"/>
          <a:cs typeface="+mn-cs"/>
        </a:defRPr>
      </a:lvl2pPr>
      <a:lvl3pPr marL="914355" algn="l" defTabSz="914355" rtl="0" eaLnBrk="1" latinLnBrk="0" hangingPunct="1">
        <a:defRPr sz="1801" kern="1200">
          <a:solidFill>
            <a:schemeClr val="tx1"/>
          </a:solidFill>
          <a:latin typeface="+mn-lt"/>
          <a:ea typeface="+mn-ea"/>
          <a:cs typeface="+mn-cs"/>
        </a:defRPr>
      </a:lvl3pPr>
      <a:lvl4pPr marL="1371532" algn="l" defTabSz="914355" rtl="0" eaLnBrk="1" latinLnBrk="0" hangingPunct="1">
        <a:defRPr sz="1801" kern="1200">
          <a:solidFill>
            <a:schemeClr val="tx1"/>
          </a:solidFill>
          <a:latin typeface="+mn-lt"/>
          <a:ea typeface="+mn-ea"/>
          <a:cs typeface="+mn-cs"/>
        </a:defRPr>
      </a:lvl4pPr>
      <a:lvl5pPr marL="1828707" algn="l" defTabSz="914355" rtl="0" eaLnBrk="1" latinLnBrk="0" hangingPunct="1">
        <a:defRPr sz="1801" kern="1200">
          <a:solidFill>
            <a:schemeClr val="tx1"/>
          </a:solidFill>
          <a:latin typeface="+mn-lt"/>
          <a:ea typeface="+mn-ea"/>
          <a:cs typeface="+mn-cs"/>
        </a:defRPr>
      </a:lvl5pPr>
      <a:lvl6pPr marL="2285886" algn="l" defTabSz="914355" rtl="0" eaLnBrk="1" latinLnBrk="0" hangingPunct="1">
        <a:defRPr sz="1801" kern="1200">
          <a:solidFill>
            <a:schemeClr val="tx1"/>
          </a:solidFill>
          <a:latin typeface="+mn-lt"/>
          <a:ea typeface="+mn-ea"/>
          <a:cs typeface="+mn-cs"/>
        </a:defRPr>
      </a:lvl6pPr>
      <a:lvl7pPr marL="2743060" algn="l" defTabSz="914355" rtl="0" eaLnBrk="1" latinLnBrk="0" hangingPunct="1">
        <a:defRPr sz="1801" kern="1200">
          <a:solidFill>
            <a:schemeClr val="tx1"/>
          </a:solidFill>
          <a:latin typeface="+mn-lt"/>
          <a:ea typeface="+mn-ea"/>
          <a:cs typeface="+mn-cs"/>
        </a:defRPr>
      </a:lvl7pPr>
      <a:lvl8pPr marL="3200237" algn="l" defTabSz="914355" rtl="0" eaLnBrk="1" latinLnBrk="0" hangingPunct="1">
        <a:defRPr sz="1801" kern="1200">
          <a:solidFill>
            <a:schemeClr val="tx1"/>
          </a:solidFill>
          <a:latin typeface="+mn-lt"/>
          <a:ea typeface="+mn-ea"/>
          <a:cs typeface="+mn-cs"/>
        </a:defRPr>
      </a:lvl8pPr>
      <a:lvl9pPr marL="3657416" algn="l" defTabSz="914355"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5" y="365128"/>
            <a:ext cx="10515598"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838205" y="1825625"/>
            <a:ext cx="10515598" cy="4351338"/>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838205" y="6356353"/>
            <a:ext cx="2743198" cy="365125"/>
          </a:xfrm>
          <a:prstGeom prst="rect">
            <a:avLst/>
          </a:prstGeom>
        </p:spPr>
        <p:txBody>
          <a:bodyPr vert="horz" lIns="91440" tIns="45720" rIns="91440" bIns="45720" rtlCol="0" anchor="ctr"/>
          <a:lstStyle>
            <a:lvl1pPr algn="l">
              <a:defRPr sz="686">
                <a:solidFill>
                  <a:schemeClr val="tx1">
                    <a:tint val="75000"/>
                  </a:schemeClr>
                </a:solidFill>
              </a:defRPr>
            </a:lvl1pPr>
          </a:lstStyle>
          <a:p>
            <a:fld id="{556B6180-419C-42B1-81D1-A05BFF3D9117}" type="datetimeFigureOut">
              <a:rPr lang="en-GB" smtClean="0">
                <a:solidFill>
                  <a:prstClr val="black">
                    <a:tint val="75000"/>
                  </a:prstClr>
                </a:solidFill>
              </a:rPr>
              <a:pPr/>
              <a:t>17/11/2025</a:t>
            </a:fld>
            <a:endParaRPr lang="en-GB">
              <a:solidFill>
                <a:prstClr val="black">
                  <a:tint val="75000"/>
                </a:prstClr>
              </a:solidFill>
            </a:endParaRPr>
          </a:p>
        </p:txBody>
      </p:sp>
      <p:sp>
        <p:nvSpPr>
          <p:cNvPr id="5" name="Footer Placeholder 4"/>
          <p:cNvSpPr>
            <a:spLocks noGrp="1"/>
          </p:cNvSpPr>
          <p:nvPr>
            <p:ph type="ftr" sz="quarter" idx="3"/>
          </p:nvPr>
        </p:nvSpPr>
        <p:spPr>
          <a:xfrm>
            <a:off x="4038604" y="6356353"/>
            <a:ext cx="4114800" cy="365125"/>
          </a:xfrm>
          <a:prstGeom prst="rect">
            <a:avLst/>
          </a:prstGeom>
        </p:spPr>
        <p:txBody>
          <a:bodyPr vert="horz" lIns="91440" tIns="45720" rIns="91440" bIns="45720" rtlCol="0" anchor="ctr"/>
          <a:lstStyle>
            <a:lvl1pPr algn="ctr">
              <a:defRPr sz="686">
                <a:solidFill>
                  <a:schemeClr val="tx1">
                    <a:tint val="75000"/>
                  </a:schemeClr>
                </a:solidFill>
              </a:defRPr>
            </a:lvl1pPr>
          </a:lstStyle>
          <a:p>
            <a:endParaRPr lang="en-GB">
              <a:solidFill>
                <a:prstClr val="black">
                  <a:tint val="75000"/>
                </a:prstClr>
              </a:solidFill>
            </a:endParaRPr>
          </a:p>
        </p:txBody>
      </p:sp>
      <p:sp>
        <p:nvSpPr>
          <p:cNvPr id="6" name="Slide Number Placeholder 5"/>
          <p:cNvSpPr>
            <a:spLocks noGrp="1"/>
          </p:cNvSpPr>
          <p:nvPr>
            <p:ph type="sldNum" sz="quarter" idx="4"/>
          </p:nvPr>
        </p:nvSpPr>
        <p:spPr>
          <a:xfrm>
            <a:off x="8610605" y="6356353"/>
            <a:ext cx="2743198" cy="365125"/>
          </a:xfrm>
          <a:prstGeom prst="rect">
            <a:avLst/>
          </a:prstGeom>
        </p:spPr>
        <p:txBody>
          <a:bodyPr vert="horz" lIns="91440" tIns="45720" rIns="91440" bIns="45720" rtlCol="0" anchor="ctr"/>
          <a:lstStyle>
            <a:lvl1pPr algn="r">
              <a:defRPr sz="686">
                <a:solidFill>
                  <a:schemeClr val="tx1">
                    <a:tint val="75000"/>
                  </a:schemeClr>
                </a:solidFill>
              </a:defRPr>
            </a:lvl1pPr>
          </a:lstStyle>
          <a:p>
            <a:fld id="{C0E3EC2E-ABE0-4A76-A76E-C68D921FAE3B}" type="slidenum">
              <a:rPr lang="en-GB" smtClean="0">
                <a:solidFill>
                  <a:prstClr val="black">
                    <a:tint val="75000"/>
                  </a:prstClr>
                </a:solidFill>
              </a:rPr>
              <a:pPr/>
              <a:t>‹Nº›</a:t>
            </a:fld>
            <a:endParaRPr lang="en-GB">
              <a:solidFill>
                <a:prstClr val="black">
                  <a:tint val="75000"/>
                </a:prstClr>
              </a:solidFill>
            </a:endParaRPr>
          </a:p>
        </p:txBody>
      </p:sp>
    </p:spTree>
    <p:extLst>
      <p:ext uri="{BB962C8B-B14F-4D97-AF65-F5344CB8AC3E}">
        <p14:creationId xmlns:p14="http://schemas.microsoft.com/office/powerpoint/2010/main" val="299561599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522591" rtl="0" eaLnBrk="1" latinLnBrk="0" hangingPunct="1">
        <a:lnSpc>
          <a:spcPct val="90000"/>
        </a:lnSpc>
        <a:spcBef>
          <a:spcPct val="0"/>
        </a:spcBef>
        <a:buNone/>
        <a:defRPr sz="2516" kern="1200">
          <a:solidFill>
            <a:schemeClr val="tx1"/>
          </a:solidFill>
          <a:latin typeface="+mj-lt"/>
          <a:ea typeface="+mj-ea"/>
          <a:cs typeface="+mj-cs"/>
        </a:defRPr>
      </a:lvl1pPr>
    </p:titleStyle>
    <p:bodyStyle>
      <a:lvl1pPr marL="130649" indent="-130649" algn="l" defTabSz="522591" rtl="0" eaLnBrk="1" latinLnBrk="0" hangingPunct="1">
        <a:lnSpc>
          <a:spcPct val="90000"/>
        </a:lnSpc>
        <a:spcBef>
          <a:spcPts val="572"/>
        </a:spcBef>
        <a:buFont typeface="Arial" panose="020B0604020202020204" pitchFamily="34" charset="0"/>
        <a:buChar char="•"/>
        <a:defRPr sz="1600" kern="1200">
          <a:solidFill>
            <a:schemeClr val="tx1"/>
          </a:solidFill>
          <a:latin typeface="+mn-lt"/>
          <a:ea typeface="+mn-ea"/>
          <a:cs typeface="+mn-cs"/>
        </a:defRPr>
      </a:lvl1pPr>
      <a:lvl2pPr marL="391944" indent="-130649" algn="l" defTabSz="522591" rtl="0" eaLnBrk="1" latinLnBrk="0" hangingPunct="1">
        <a:lnSpc>
          <a:spcPct val="90000"/>
        </a:lnSpc>
        <a:spcBef>
          <a:spcPts val="286"/>
        </a:spcBef>
        <a:buFont typeface="Arial" panose="020B0604020202020204" pitchFamily="34" charset="0"/>
        <a:buChar char="•"/>
        <a:defRPr sz="1372" kern="1200">
          <a:solidFill>
            <a:schemeClr val="tx1"/>
          </a:solidFill>
          <a:latin typeface="+mn-lt"/>
          <a:ea typeface="+mn-ea"/>
          <a:cs typeface="+mn-cs"/>
        </a:defRPr>
      </a:lvl2pPr>
      <a:lvl3pPr marL="653240" indent="-130649" algn="l" defTabSz="522591" rtl="0" eaLnBrk="1" latinLnBrk="0" hangingPunct="1">
        <a:lnSpc>
          <a:spcPct val="90000"/>
        </a:lnSpc>
        <a:spcBef>
          <a:spcPts val="286"/>
        </a:spcBef>
        <a:buFont typeface="Arial" panose="020B0604020202020204" pitchFamily="34" charset="0"/>
        <a:buChar char="•"/>
        <a:defRPr sz="1143" kern="1200">
          <a:solidFill>
            <a:schemeClr val="tx1"/>
          </a:solidFill>
          <a:latin typeface="+mn-lt"/>
          <a:ea typeface="+mn-ea"/>
          <a:cs typeface="+mn-cs"/>
        </a:defRPr>
      </a:lvl3pPr>
      <a:lvl4pPr marL="914538" indent="-130649" algn="l" defTabSz="522591" rtl="0" eaLnBrk="1" latinLnBrk="0" hangingPunct="1">
        <a:lnSpc>
          <a:spcPct val="90000"/>
        </a:lnSpc>
        <a:spcBef>
          <a:spcPts val="286"/>
        </a:spcBef>
        <a:buFont typeface="Arial" panose="020B0604020202020204" pitchFamily="34" charset="0"/>
        <a:buChar char="•"/>
        <a:defRPr sz="1029" kern="1200">
          <a:solidFill>
            <a:schemeClr val="tx1"/>
          </a:solidFill>
          <a:latin typeface="+mn-lt"/>
          <a:ea typeface="+mn-ea"/>
          <a:cs typeface="+mn-cs"/>
        </a:defRPr>
      </a:lvl4pPr>
      <a:lvl5pPr marL="1175832" indent="-130649" algn="l" defTabSz="522591" rtl="0" eaLnBrk="1" latinLnBrk="0" hangingPunct="1">
        <a:lnSpc>
          <a:spcPct val="90000"/>
        </a:lnSpc>
        <a:spcBef>
          <a:spcPts val="286"/>
        </a:spcBef>
        <a:buFont typeface="Arial" panose="020B0604020202020204" pitchFamily="34" charset="0"/>
        <a:buChar char="•"/>
        <a:defRPr sz="1029" kern="1200">
          <a:solidFill>
            <a:schemeClr val="tx1"/>
          </a:solidFill>
          <a:latin typeface="+mn-lt"/>
          <a:ea typeface="+mn-ea"/>
          <a:cs typeface="+mn-cs"/>
        </a:defRPr>
      </a:lvl5pPr>
      <a:lvl6pPr marL="1437129" indent="-130649" algn="l" defTabSz="522591" rtl="0" eaLnBrk="1" latinLnBrk="0" hangingPunct="1">
        <a:lnSpc>
          <a:spcPct val="90000"/>
        </a:lnSpc>
        <a:spcBef>
          <a:spcPts val="286"/>
        </a:spcBef>
        <a:buFont typeface="Arial" panose="020B0604020202020204" pitchFamily="34" charset="0"/>
        <a:buChar char="•"/>
        <a:defRPr sz="1029" kern="1200">
          <a:solidFill>
            <a:schemeClr val="tx1"/>
          </a:solidFill>
          <a:latin typeface="+mn-lt"/>
          <a:ea typeface="+mn-ea"/>
          <a:cs typeface="+mn-cs"/>
        </a:defRPr>
      </a:lvl6pPr>
      <a:lvl7pPr marL="1698425" indent="-130649" algn="l" defTabSz="522591" rtl="0" eaLnBrk="1" latinLnBrk="0" hangingPunct="1">
        <a:lnSpc>
          <a:spcPct val="90000"/>
        </a:lnSpc>
        <a:spcBef>
          <a:spcPts val="286"/>
        </a:spcBef>
        <a:buFont typeface="Arial" panose="020B0604020202020204" pitchFamily="34" charset="0"/>
        <a:buChar char="•"/>
        <a:defRPr sz="1029" kern="1200">
          <a:solidFill>
            <a:schemeClr val="tx1"/>
          </a:solidFill>
          <a:latin typeface="+mn-lt"/>
          <a:ea typeface="+mn-ea"/>
          <a:cs typeface="+mn-cs"/>
        </a:defRPr>
      </a:lvl7pPr>
      <a:lvl8pPr marL="1959720" indent="-130649" algn="l" defTabSz="522591" rtl="0" eaLnBrk="1" latinLnBrk="0" hangingPunct="1">
        <a:lnSpc>
          <a:spcPct val="90000"/>
        </a:lnSpc>
        <a:spcBef>
          <a:spcPts val="286"/>
        </a:spcBef>
        <a:buFont typeface="Arial" panose="020B0604020202020204" pitchFamily="34" charset="0"/>
        <a:buChar char="•"/>
        <a:defRPr sz="1029" kern="1200">
          <a:solidFill>
            <a:schemeClr val="tx1"/>
          </a:solidFill>
          <a:latin typeface="+mn-lt"/>
          <a:ea typeface="+mn-ea"/>
          <a:cs typeface="+mn-cs"/>
        </a:defRPr>
      </a:lvl8pPr>
      <a:lvl9pPr marL="2221018" indent="-130649" algn="l" defTabSz="522591" rtl="0" eaLnBrk="1" latinLnBrk="0" hangingPunct="1">
        <a:lnSpc>
          <a:spcPct val="90000"/>
        </a:lnSpc>
        <a:spcBef>
          <a:spcPts val="286"/>
        </a:spcBef>
        <a:buFont typeface="Arial" panose="020B0604020202020204" pitchFamily="34" charset="0"/>
        <a:buChar char="•"/>
        <a:defRPr sz="1029" kern="1200">
          <a:solidFill>
            <a:schemeClr val="tx1"/>
          </a:solidFill>
          <a:latin typeface="+mn-lt"/>
          <a:ea typeface="+mn-ea"/>
          <a:cs typeface="+mn-cs"/>
        </a:defRPr>
      </a:lvl9pPr>
    </p:bodyStyle>
    <p:otherStyle>
      <a:defPPr>
        <a:defRPr lang="en-US"/>
      </a:defPPr>
      <a:lvl1pPr marL="0" algn="l" defTabSz="522591" rtl="0" eaLnBrk="1" latinLnBrk="0" hangingPunct="1">
        <a:defRPr sz="1029" kern="1200">
          <a:solidFill>
            <a:schemeClr val="tx1"/>
          </a:solidFill>
          <a:latin typeface="+mn-lt"/>
          <a:ea typeface="+mn-ea"/>
          <a:cs typeface="+mn-cs"/>
        </a:defRPr>
      </a:lvl1pPr>
      <a:lvl2pPr marL="261297" algn="l" defTabSz="522591" rtl="0" eaLnBrk="1" latinLnBrk="0" hangingPunct="1">
        <a:defRPr sz="1029" kern="1200">
          <a:solidFill>
            <a:schemeClr val="tx1"/>
          </a:solidFill>
          <a:latin typeface="+mn-lt"/>
          <a:ea typeface="+mn-ea"/>
          <a:cs typeface="+mn-cs"/>
        </a:defRPr>
      </a:lvl2pPr>
      <a:lvl3pPr marL="522591" algn="l" defTabSz="522591" rtl="0" eaLnBrk="1" latinLnBrk="0" hangingPunct="1">
        <a:defRPr sz="1029" kern="1200">
          <a:solidFill>
            <a:schemeClr val="tx1"/>
          </a:solidFill>
          <a:latin typeface="+mn-lt"/>
          <a:ea typeface="+mn-ea"/>
          <a:cs typeface="+mn-cs"/>
        </a:defRPr>
      </a:lvl3pPr>
      <a:lvl4pPr marL="783889" algn="l" defTabSz="522591" rtl="0" eaLnBrk="1" latinLnBrk="0" hangingPunct="1">
        <a:defRPr sz="1029" kern="1200">
          <a:solidFill>
            <a:schemeClr val="tx1"/>
          </a:solidFill>
          <a:latin typeface="+mn-lt"/>
          <a:ea typeface="+mn-ea"/>
          <a:cs typeface="+mn-cs"/>
        </a:defRPr>
      </a:lvl4pPr>
      <a:lvl5pPr marL="1045185" algn="l" defTabSz="522591" rtl="0" eaLnBrk="1" latinLnBrk="0" hangingPunct="1">
        <a:defRPr sz="1029" kern="1200">
          <a:solidFill>
            <a:schemeClr val="tx1"/>
          </a:solidFill>
          <a:latin typeface="+mn-lt"/>
          <a:ea typeface="+mn-ea"/>
          <a:cs typeface="+mn-cs"/>
        </a:defRPr>
      </a:lvl5pPr>
      <a:lvl6pPr marL="1306480" algn="l" defTabSz="522591" rtl="0" eaLnBrk="1" latinLnBrk="0" hangingPunct="1">
        <a:defRPr sz="1029" kern="1200">
          <a:solidFill>
            <a:schemeClr val="tx1"/>
          </a:solidFill>
          <a:latin typeface="+mn-lt"/>
          <a:ea typeface="+mn-ea"/>
          <a:cs typeface="+mn-cs"/>
        </a:defRPr>
      </a:lvl6pPr>
      <a:lvl7pPr marL="1567778" algn="l" defTabSz="522591" rtl="0" eaLnBrk="1" latinLnBrk="0" hangingPunct="1">
        <a:defRPr sz="1029" kern="1200">
          <a:solidFill>
            <a:schemeClr val="tx1"/>
          </a:solidFill>
          <a:latin typeface="+mn-lt"/>
          <a:ea typeface="+mn-ea"/>
          <a:cs typeface="+mn-cs"/>
        </a:defRPr>
      </a:lvl7pPr>
      <a:lvl8pPr marL="1829074" algn="l" defTabSz="522591" rtl="0" eaLnBrk="1" latinLnBrk="0" hangingPunct="1">
        <a:defRPr sz="1029" kern="1200">
          <a:solidFill>
            <a:schemeClr val="tx1"/>
          </a:solidFill>
          <a:latin typeface="+mn-lt"/>
          <a:ea typeface="+mn-ea"/>
          <a:cs typeface="+mn-cs"/>
        </a:defRPr>
      </a:lvl8pPr>
      <a:lvl9pPr marL="2090369" algn="l" defTabSz="522591" rtl="0" eaLnBrk="1" latinLnBrk="0" hangingPunct="1">
        <a:defRPr sz="102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acmant.eu/scientific-literature/"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z="3600" b="1" dirty="0">
                <a:solidFill>
                  <a:srgbClr val="A50021"/>
                </a:solidFill>
                <a:cs typeface="Times New Roman" panose="02020603050405020304" pitchFamily="18" charset="0"/>
              </a:rPr>
              <a:t>Efectos de cambios técnicos a las series</a:t>
            </a:r>
            <a:br>
              <a:rPr lang="es-ES" sz="3600" b="1" dirty="0">
                <a:solidFill>
                  <a:srgbClr val="A50021"/>
                </a:solidFill>
                <a:cs typeface="Times New Roman" panose="02020603050405020304" pitchFamily="18" charset="0"/>
              </a:rPr>
            </a:br>
            <a:r>
              <a:rPr lang="es-ES" sz="3600" b="1" dirty="0">
                <a:solidFill>
                  <a:srgbClr val="A50021"/>
                </a:solidFill>
                <a:cs typeface="Times New Roman" panose="02020603050405020304" pitchFamily="18" charset="0"/>
              </a:rPr>
              <a:t> de datos climáticos observados </a:t>
            </a:r>
            <a:endParaRPr lang="es-ES" sz="3600" dirty="0"/>
          </a:p>
        </p:txBody>
      </p:sp>
      <p:graphicFrame>
        <p:nvGraphicFramePr>
          <p:cNvPr id="5" name="Marcador de contenido 4"/>
          <p:cNvGraphicFramePr>
            <a:graphicFrameLocks noGrp="1"/>
          </p:cNvGraphicFramePr>
          <p:nvPr>
            <p:ph sz="half" idx="1"/>
            <p:extLst>
              <p:ext uri="{D42A27DB-BD31-4B8C-83A1-F6EECF244321}">
                <p14:modId xmlns:p14="http://schemas.microsoft.com/office/powerpoint/2010/main" val="217895581"/>
              </p:ext>
            </p:extLst>
          </p:nvPr>
        </p:nvGraphicFramePr>
        <p:xfrm>
          <a:off x="609603" y="1781035"/>
          <a:ext cx="5384798" cy="452596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Marcador de contenido 5"/>
          <p:cNvGraphicFramePr>
            <a:graphicFrameLocks noGrp="1"/>
          </p:cNvGraphicFramePr>
          <p:nvPr>
            <p:ph sz="half" idx="2"/>
            <p:extLst>
              <p:ext uri="{D42A27DB-BD31-4B8C-83A1-F6EECF244321}">
                <p14:modId xmlns:p14="http://schemas.microsoft.com/office/powerpoint/2010/main" val="126159791"/>
              </p:ext>
            </p:extLst>
          </p:nvPr>
        </p:nvGraphicFramePr>
        <p:xfrm>
          <a:off x="6197603" y="1781035"/>
          <a:ext cx="5384798" cy="452596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9117640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z="3600" b="1" dirty="0">
                <a:solidFill>
                  <a:srgbClr val="A50021"/>
                </a:solidFill>
                <a:cs typeface="Times New Roman" panose="02020603050405020304" pitchFamily="18" charset="0"/>
              </a:rPr>
              <a:t>Homogeneización relativa: objetivo </a:t>
            </a:r>
            <a:r>
              <a:rPr lang="es-ES" sz="3600" b="1" dirty="0" smtClean="0">
                <a:solidFill>
                  <a:srgbClr val="A50021"/>
                </a:solidFill>
                <a:cs typeface="Times New Roman" panose="02020603050405020304" pitchFamily="18" charset="0"/>
              </a:rPr>
              <a:t>principal</a:t>
            </a:r>
            <a:endParaRPr lang="en-US" sz="3600" dirty="0"/>
          </a:p>
        </p:txBody>
      </p:sp>
      <p:sp>
        <p:nvSpPr>
          <p:cNvPr id="3" name="Marcador de contenido 2"/>
          <p:cNvSpPr>
            <a:spLocks noGrp="1"/>
          </p:cNvSpPr>
          <p:nvPr>
            <p:ph idx="1"/>
          </p:nvPr>
        </p:nvSpPr>
        <p:spPr>
          <a:xfrm>
            <a:off x="609602" y="1670547"/>
            <a:ext cx="10972800" cy="4772459"/>
          </a:xfrm>
        </p:spPr>
        <p:txBody>
          <a:bodyPr/>
          <a:lstStyle/>
          <a:p>
            <a:pPr>
              <a:spcAft>
                <a:spcPts val="599"/>
              </a:spcAft>
            </a:pPr>
            <a:r>
              <a:rPr lang="es-ES" sz="2400" b="1" dirty="0">
                <a:solidFill>
                  <a:schemeClr val="accent2">
                    <a:lumMod val="50000"/>
                  </a:schemeClr>
                </a:solidFill>
              </a:rPr>
              <a:t>Objetivo principal</a:t>
            </a:r>
            <a:r>
              <a:rPr lang="es-ES" sz="2400" dirty="0"/>
              <a:t>: Quitar los efectos de cambios en la técnica de observaciones (efectos non-climáticos, </a:t>
            </a:r>
            <a:r>
              <a:rPr lang="es-ES" sz="2400" dirty="0" err="1"/>
              <a:t>inhomogeneidades</a:t>
            </a:r>
            <a:r>
              <a:rPr lang="es-ES" sz="2400" dirty="0"/>
              <a:t>) desde las series de datos observados. La homogeneización debe preservar la </a:t>
            </a:r>
            <a:r>
              <a:rPr lang="es-ES" sz="2400" dirty="0" smtClean="0"/>
              <a:t>variación del clima en el tiempo.</a:t>
            </a:r>
          </a:p>
          <a:p>
            <a:pPr>
              <a:spcAft>
                <a:spcPts val="599"/>
              </a:spcAft>
            </a:pPr>
            <a:r>
              <a:rPr lang="es-ES" sz="2400" b="1" dirty="0" smtClean="0">
                <a:solidFill>
                  <a:schemeClr val="accent2">
                    <a:lumMod val="50000"/>
                  </a:schemeClr>
                </a:solidFill>
              </a:rPr>
              <a:t>Idea principal de la solución:</a:t>
            </a:r>
            <a:r>
              <a:rPr lang="es-ES" sz="2400" dirty="0" smtClean="0"/>
              <a:t> </a:t>
            </a:r>
            <a:r>
              <a:rPr lang="es-ES" sz="2400" dirty="0"/>
              <a:t>En </a:t>
            </a:r>
            <a:r>
              <a:rPr lang="es-ES" sz="2400" dirty="0" smtClean="0"/>
              <a:t>una </a:t>
            </a:r>
            <a:r>
              <a:rPr lang="es-ES" sz="2400" dirty="0"/>
              <a:t>serie de </a:t>
            </a:r>
            <a:r>
              <a:rPr lang="es-ES" sz="2400" dirty="0" smtClean="0"/>
              <a:t>diferencia entre la serie candidata y unas series vecinales (</a:t>
            </a:r>
            <a:r>
              <a:rPr lang="es-ES" sz="2400" dirty="0"/>
              <a:t>serie relativa) las variaciones de clima no </a:t>
            </a:r>
            <a:r>
              <a:rPr lang="es-ES" sz="2400" dirty="0" smtClean="0"/>
              <a:t>aparecen</a:t>
            </a:r>
            <a:r>
              <a:rPr lang="es-ES" sz="2400" dirty="0"/>
              <a:t> </a:t>
            </a:r>
            <a:r>
              <a:rPr lang="es-ES" sz="2400" dirty="0" smtClean="0"/>
              <a:t>y así ellas no afectan </a:t>
            </a:r>
            <a:r>
              <a:rPr lang="es-ES" sz="2400" dirty="0"/>
              <a:t>la detección de </a:t>
            </a:r>
            <a:r>
              <a:rPr lang="es-ES" sz="2400" dirty="0" err="1" smtClean="0"/>
              <a:t>inhomogeneidades</a:t>
            </a:r>
            <a:r>
              <a:rPr lang="es-ES" sz="2400" dirty="0" smtClean="0"/>
              <a:t>.</a:t>
            </a:r>
            <a:endParaRPr lang="es-ES" sz="2400" dirty="0"/>
          </a:p>
          <a:p>
            <a:pPr>
              <a:spcAft>
                <a:spcPts val="599"/>
              </a:spcAft>
            </a:pPr>
            <a:r>
              <a:rPr lang="es-ES" sz="2400" b="1" dirty="0" smtClean="0">
                <a:solidFill>
                  <a:schemeClr val="accent2">
                    <a:lumMod val="50000"/>
                  </a:schemeClr>
                </a:solidFill>
              </a:rPr>
              <a:t>Las </a:t>
            </a:r>
            <a:r>
              <a:rPr lang="es-ES" sz="2400" b="1" dirty="0" err="1">
                <a:solidFill>
                  <a:schemeClr val="accent2">
                    <a:lumMod val="50000"/>
                  </a:schemeClr>
                </a:solidFill>
              </a:rPr>
              <a:t>inhomogeneidades</a:t>
            </a:r>
            <a:r>
              <a:rPr lang="es-ES" sz="2400" b="1" dirty="0">
                <a:solidFill>
                  <a:schemeClr val="accent2">
                    <a:lumMod val="50000"/>
                  </a:schemeClr>
                </a:solidFill>
              </a:rPr>
              <a:t> </a:t>
            </a:r>
            <a:r>
              <a:rPr lang="es-ES" sz="2400" b="1" dirty="0" smtClean="0">
                <a:solidFill>
                  <a:schemeClr val="accent2">
                    <a:lumMod val="50000"/>
                  </a:schemeClr>
                </a:solidFill>
              </a:rPr>
              <a:t>en general se </a:t>
            </a:r>
            <a:r>
              <a:rPr lang="es-ES" sz="2400" b="1" dirty="0">
                <a:solidFill>
                  <a:schemeClr val="accent2">
                    <a:lumMod val="50000"/>
                  </a:schemeClr>
                </a:solidFill>
              </a:rPr>
              <a:t>manifiestan como saltos </a:t>
            </a:r>
            <a:r>
              <a:rPr lang="es-ES" sz="2400" dirty="0"/>
              <a:t>de los promedios entre </a:t>
            </a:r>
            <a:r>
              <a:rPr lang="es-ES" sz="2400" dirty="0" smtClean="0"/>
              <a:t>periodos consecutivos, si bien a veces son tendencias, y pueden tener variación estacional y/o variación por la distribución probabilística.   </a:t>
            </a:r>
            <a:endParaRPr lang="es-ES" sz="2400" dirty="0"/>
          </a:p>
          <a:p>
            <a:endParaRPr lang="en-US" dirty="0"/>
          </a:p>
        </p:txBody>
      </p:sp>
    </p:spTree>
    <p:extLst>
      <p:ext uri="{BB962C8B-B14F-4D97-AF65-F5344CB8AC3E}">
        <p14:creationId xmlns:p14="http://schemas.microsoft.com/office/powerpoint/2010/main" val="3812339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11016" y="274640"/>
            <a:ext cx="11633982" cy="1076487"/>
          </a:xfrm>
        </p:spPr>
        <p:txBody>
          <a:bodyPr/>
          <a:lstStyle/>
          <a:p>
            <a:r>
              <a:rPr lang="es-ES" sz="3600" b="1" dirty="0" smtClean="0">
                <a:solidFill>
                  <a:srgbClr val="A50021"/>
                </a:solidFill>
                <a:cs typeface="Times New Roman" panose="02020603050405020304" pitchFamily="18" charset="0"/>
              </a:rPr>
              <a:t>Homogeneización</a:t>
            </a:r>
            <a:r>
              <a:rPr lang="es-ES" sz="3600" b="1" dirty="0">
                <a:solidFill>
                  <a:srgbClr val="A50021"/>
                </a:solidFill>
                <a:cs typeface="Times New Roman" panose="02020603050405020304" pitchFamily="18" charset="0"/>
              </a:rPr>
              <a:t> </a:t>
            </a:r>
            <a:r>
              <a:rPr lang="es-ES" sz="3600" b="1" dirty="0" smtClean="0">
                <a:solidFill>
                  <a:srgbClr val="A50021"/>
                </a:solidFill>
                <a:cs typeface="Times New Roman" panose="02020603050405020304" pitchFamily="18" charset="0"/>
              </a:rPr>
              <a:t>de series climáticas: </a:t>
            </a:r>
            <a:r>
              <a:rPr lang="es-ES" sz="3200" b="1" dirty="0" smtClean="0">
                <a:solidFill>
                  <a:schemeClr val="tx1"/>
                </a:solidFill>
                <a:cs typeface="Times New Roman" panose="02020603050405020304" pitchFamily="18" charset="0"/>
              </a:rPr>
              <a:t>particularidades del modelismo estadístico</a:t>
            </a:r>
            <a:endParaRPr lang="en-US" sz="3200" dirty="0">
              <a:solidFill>
                <a:schemeClr val="tx1"/>
              </a:solidFill>
            </a:endParaRPr>
          </a:p>
        </p:txBody>
      </p:sp>
      <p:sp>
        <p:nvSpPr>
          <p:cNvPr id="3" name="Marcador de contenido 2"/>
          <p:cNvSpPr>
            <a:spLocks noGrp="1"/>
          </p:cNvSpPr>
          <p:nvPr>
            <p:ph idx="1"/>
          </p:nvPr>
        </p:nvSpPr>
        <p:spPr>
          <a:xfrm>
            <a:off x="541607" y="1827755"/>
            <a:ext cx="10972800" cy="3931601"/>
          </a:xfrm>
        </p:spPr>
        <p:txBody>
          <a:bodyPr/>
          <a:lstStyle/>
          <a:p>
            <a:r>
              <a:rPr lang="es-ES" sz="2400" dirty="0" smtClean="0"/>
              <a:t>Se divide a dos partes la variación temporal (al no considerar el ruido como componente importante), y preserva la variación climática, mientras quita las </a:t>
            </a:r>
            <a:r>
              <a:rPr lang="es-ES" sz="2400" dirty="0" err="1" smtClean="0"/>
              <a:t>inhomogeneidades</a:t>
            </a:r>
            <a:r>
              <a:rPr lang="es-ES" sz="2400" dirty="0" smtClean="0"/>
              <a:t>;</a:t>
            </a:r>
          </a:p>
          <a:p>
            <a:r>
              <a:rPr lang="es-ES" sz="2400" dirty="0" smtClean="0"/>
              <a:t>La precisión de homogeneización se puede comprobar solo en series sintéticas;</a:t>
            </a:r>
          </a:p>
          <a:p>
            <a:r>
              <a:rPr lang="es-ES" sz="2400" dirty="0" smtClean="0"/>
              <a:t>El número de datos es finito y determinado por el propio clima, este hecho se debe considerar cuando modelos usan parámetros estimados desde los datos observados. </a:t>
            </a:r>
          </a:p>
        </p:txBody>
      </p:sp>
    </p:spTree>
    <p:extLst>
      <p:ext uri="{BB962C8B-B14F-4D97-AF65-F5344CB8AC3E}">
        <p14:creationId xmlns:p14="http://schemas.microsoft.com/office/powerpoint/2010/main" val="3949147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11016" y="274641"/>
            <a:ext cx="11633982" cy="724167"/>
          </a:xfrm>
        </p:spPr>
        <p:txBody>
          <a:bodyPr/>
          <a:lstStyle/>
          <a:p>
            <a:r>
              <a:rPr lang="es-ES" sz="3600" b="1" dirty="0" smtClean="0">
                <a:solidFill>
                  <a:srgbClr val="A50021"/>
                </a:solidFill>
                <a:cs typeface="Times New Roman" panose="02020603050405020304" pitchFamily="18" charset="0"/>
              </a:rPr>
              <a:t>Homogeneización: tarea complicada (?)</a:t>
            </a:r>
            <a:endParaRPr lang="en-US" sz="3600" dirty="0"/>
          </a:p>
        </p:txBody>
      </p:sp>
      <p:sp>
        <p:nvSpPr>
          <p:cNvPr id="3" name="Marcador de contenido 2"/>
          <p:cNvSpPr>
            <a:spLocks noGrp="1"/>
          </p:cNvSpPr>
          <p:nvPr>
            <p:ph idx="1"/>
          </p:nvPr>
        </p:nvSpPr>
        <p:spPr>
          <a:xfrm>
            <a:off x="609602" y="1336435"/>
            <a:ext cx="10972800" cy="4888212"/>
          </a:xfrm>
        </p:spPr>
        <p:txBody>
          <a:bodyPr/>
          <a:lstStyle/>
          <a:p>
            <a:r>
              <a:rPr lang="es-ES" sz="2400" dirty="0"/>
              <a:t>La fiabilidad y precisión depende del ratio de señal a ruido;</a:t>
            </a:r>
          </a:p>
          <a:p>
            <a:r>
              <a:rPr lang="es-ES" sz="2400" dirty="0"/>
              <a:t>No tenemos referencia series perfectamente homogéneas;</a:t>
            </a:r>
          </a:p>
          <a:p>
            <a:r>
              <a:rPr lang="es-ES" sz="2400" dirty="0" err="1"/>
              <a:t>Inhomogeneidades</a:t>
            </a:r>
            <a:r>
              <a:rPr lang="es-ES" sz="2400" dirty="0"/>
              <a:t> múltiples de la misma serie (frecuencia de saltos: ~ 1/15 años)</a:t>
            </a:r>
          </a:p>
          <a:p>
            <a:r>
              <a:rPr lang="es-ES" sz="2400" dirty="0"/>
              <a:t>Ocurrencias de saltos coincidentes en unas series o redes enteras</a:t>
            </a:r>
          </a:p>
          <a:p>
            <a:r>
              <a:rPr lang="es-ES" sz="2400" dirty="0"/>
              <a:t>Las series de una red de estaciones a menudo difieren en su largo y/o el periodo que cubran, además pueden tener dato lagunas</a:t>
            </a:r>
          </a:p>
          <a:p>
            <a:r>
              <a:rPr lang="es-ES" sz="2400" dirty="0"/>
              <a:t>Diferencias de la variación climática por baja densidad de observaciones, o entornos especiales (ciudad, montaña, costa,…)</a:t>
            </a:r>
          </a:p>
          <a:p>
            <a:r>
              <a:rPr lang="es-ES" sz="2400" dirty="0"/>
              <a:t>La variación climática tiene diferencias espaciales mas grandes en intervalos cortos</a:t>
            </a:r>
          </a:p>
          <a:p>
            <a:pPr marL="0" indent="0">
              <a:buNone/>
            </a:pPr>
            <a:endParaRPr lang="es-ES" sz="2201" dirty="0"/>
          </a:p>
        </p:txBody>
      </p:sp>
    </p:spTree>
    <p:extLst>
      <p:ext uri="{BB962C8B-B14F-4D97-AF65-F5344CB8AC3E}">
        <p14:creationId xmlns:p14="http://schemas.microsoft.com/office/powerpoint/2010/main" val="667642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2" y="274638"/>
            <a:ext cx="10972800" cy="921116"/>
          </a:xfrm>
        </p:spPr>
        <p:txBody>
          <a:bodyPr/>
          <a:lstStyle/>
          <a:p>
            <a:r>
              <a:rPr lang="es-ES" sz="3600" b="1" dirty="0">
                <a:solidFill>
                  <a:srgbClr val="A50021"/>
                </a:solidFill>
                <a:cs typeface="Times New Roman" panose="02020603050405020304" pitchFamily="18" charset="0"/>
              </a:rPr>
              <a:t>Frecuencia de saltos detectados, EE.UU.</a:t>
            </a:r>
            <a:endParaRPr lang="en-US" sz="3600" b="1" dirty="0">
              <a:solidFill>
                <a:srgbClr val="C00000"/>
              </a:solidFill>
            </a:endParaRPr>
          </a:p>
        </p:txBody>
      </p:sp>
      <p:pic>
        <p:nvPicPr>
          <p:cNvPr id="4" name="Marcador de contenido 3"/>
          <p:cNvPicPr>
            <a:picLocks noGrp="1" noChangeAspect="1"/>
          </p:cNvPicPr>
          <p:nvPr>
            <p:ph idx="1"/>
          </p:nvPr>
        </p:nvPicPr>
        <p:blipFill>
          <a:blip r:embed="rId2"/>
          <a:stretch>
            <a:fillRect/>
          </a:stretch>
        </p:blipFill>
        <p:spPr>
          <a:xfrm>
            <a:off x="3118517" y="1698678"/>
            <a:ext cx="5954974" cy="4525964"/>
          </a:xfrm>
          <a:prstGeom prst="rect">
            <a:avLst/>
          </a:prstGeom>
        </p:spPr>
      </p:pic>
    </p:spTree>
    <p:extLst>
      <p:ext uri="{BB962C8B-B14F-4D97-AF65-F5344CB8AC3E}">
        <p14:creationId xmlns:p14="http://schemas.microsoft.com/office/powerpoint/2010/main" val="662046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18367" y="247343"/>
            <a:ext cx="11559653" cy="885422"/>
          </a:xfrm>
        </p:spPr>
        <p:txBody>
          <a:bodyPr/>
          <a:lstStyle/>
          <a:p>
            <a:r>
              <a:rPr lang="es-ES" sz="3600" b="1" dirty="0">
                <a:solidFill>
                  <a:srgbClr val="A50021"/>
                </a:solidFill>
                <a:cs typeface="Times New Roman" panose="02020603050405020304" pitchFamily="18" charset="0"/>
              </a:rPr>
              <a:t>H</a:t>
            </a:r>
            <a:r>
              <a:rPr lang="es-ES" sz="3600" b="1" dirty="0" smtClean="0">
                <a:solidFill>
                  <a:srgbClr val="A50021"/>
                </a:solidFill>
                <a:cs typeface="Times New Roman" panose="02020603050405020304" pitchFamily="18" charset="0"/>
              </a:rPr>
              <a:t>omogeneización </a:t>
            </a:r>
            <a:r>
              <a:rPr lang="es-ES" sz="3600" b="1" dirty="0">
                <a:solidFill>
                  <a:srgbClr val="A50021"/>
                </a:solidFill>
                <a:cs typeface="Times New Roman" panose="02020603050405020304" pitchFamily="18" charset="0"/>
              </a:rPr>
              <a:t>relativa</a:t>
            </a:r>
            <a:endParaRPr lang="en-US" sz="3600" dirty="0"/>
          </a:p>
        </p:txBody>
      </p:sp>
      <p:sp>
        <p:nvSpPr>
          <p:cNvPr id="3" name="Marcador de contenido 2"/>
          <p:cNvSpPr>
            <a:spLocks noGrp="1"/>
          </p:cNvSpPr>
          <p:nvPr>
            <p:ph idx="1"/>
          </p:nvPr>
        </p:nvSpPr>
        <p:spPr>
          <a:xfrm>
            <a:off x="636896" y="1372817"/>
            <a:ext cx="10972800" cy="5123520"/>
          </a:xfrm>
        </p:spPr>
        <p:txBody>
          <a:bodyPr/>
          <a:lstStyle/>
          <a:p>
            <a:r>
              <a:rPr lang="es-ES" sz="2400" dirty="0"/>
              <a:t>Las series que homogeneizamos juntos deben pertenecer a la misma área climática</a:t>
            </a:r>
          </a:p>
          <a:p>
            <a:pPr>
              <a:spcAft>
                <a:spcPts val="0"/>
              </a:spcAft>
            </a:pPr>
            <a:r>
              <a:rPr lang="es-ES" sz="2400" dirty="0" smtClean="0"/>
              <a:t>A </a:t>
            </a:r>
            <a:r>
              <a:rPr lang="es-ES" sz="2400" dirty="0"/>
              <a:t>menudo se puede utilizar documentos (metadatos) de los cambios técnicos.</a:t>
            </a:r>
          </a:p>
          <a:p>
            <a:pPr>
              <a:spcAft>
                <a:spcPts val="0"/>
              </a:spcAft>
            </a:pPr>
            <a:r>
              <a:rPr lang="es-ES" sz="2400" dirty="0">
                <a:solidFill>
                  <a:schemeClr val="accent4"/>
                </a:solidFill>
              </a:rPr>
              <a:t>Si metadatos no indiquen en otra manera, la señal común de las series es la variación climática, mientras las desviaciones desde ella son por ruido (variación de tiempo y/o errores no sistemáticos) y </a:t>
            </a:r>
            <a:r>
              <a:rPr lang="es-ES" sz="2400" dirty="0" err="1">
                <a:solidFill>
                  <a:schemeClr val="accent4"/>
                </a:solidFill>
              </a:rPr>
              <a:t>inhomogeneidades</a:t>
            </a:r>
            <a:r>
              <a:rPr lang="es-ES" sz="2400" dirty="0">
                <a:solidFill>
                  <a:schemeClr val="accent4"/>
                </a:solidFill>
              </a:rPr>
              <a:t>. </a:t>
            </a:r>
          </a:p>
          <a:p>
            <a:r>
              <a:rPr lang="es-ES" sz="2400" dirty="0" smtClean="0"/>
              <a:t>Se debe considerar que los efectos conjuntos de las </a:t>
            </a:r>
            <a:r>
              <a:rPr lang="es-ES" sz="2400" dirty="0" err="1" smtClean="0"/>
              <a:t>inhomogeneidades</a:t>
            </a:r>
            <a:r>
              <a:rPr lang="es-ES" sz="2400" dirty="0" smtClean="0"/>
              <a:t> son mas importantes que la detección precisa de saltos individuales.</a:t>
            </a:r>
          </a:p>
          <a:p>
            <a:r>
              <a:rPr lang="es-ES" sz="2400" dirty="0"/>
              <a:t>Los efectos adversos de las </a:t>
            </a:r>
            <a:r>
              <a:rPr lang="es-ES" sz="2400" dirty="0" err="1"/>
              <a:t>inhomogeneidades</a:t>
            </a:r>
            <a:r>
              <a:rPr lang="es-ES" sz="2400" dirty="0"/>
              <a:t> en las referencia series se puede reducir con la combinación de series vecinales de la serie candidata (“</a:t>
            </a:r>
            <a:r>
              <a:rPr lang="es-ES" sz="2400" i="1" dirty="0" err="1"/>
              <a:t>composite</a:t>
            </a:r>
            <a:r>
              <a:rPr lang="es-ES" sz="2400" i="1" dirty="0"/>
              <a:t> </a:t>
            </a:r>
            <a:r>
              <a:rPr lang="es-ES" sz="2400" i="1" dirty="0" err="1"/>
              <a:t>reference</a:t>
            </a:r>
            <a:r>
              <a:rPr lang="es-ES" sz="2400" i="1" dirty="0"/>
              <a:t> serie</a:t>
            </a:r>
            <a:r>
              <a:rPr lang="es-ES" sz="2400" dirty="0"/>
              <a:t>”), aunque en ocasiones se aplica comparaciones entre series individuales (“</a:t>
            </a:r>
            <a:r>
              <a:rPr lang="es-ES" sz="2400" dirty="0" err="1"/>
              <a:t>pairwise</a:t>
            </a:r>
            <a:r>
              <a:rPr lang="es-ES" sz="2400" dirty="0"/>
              <a:t> </a:t>
            </a:r>
            <a:r>
              <a:rPr lang="es-ES" sz="2400" dirty="0" err="1"/>
              <a:t>comparisons</a:t>
            </a:r>
            <a:r>
              <a:rPr lang="es-ES" sz="2400" dirty="0"/>
              <a:t>”)</a:t>
            </a:r>
          </a:p>
          <a:p>
            <a:endParaRPr lang="es-ES" sz="2400" dirty="0" smtClean="0"/>
          </a:p>
          <a:p>
            <a:endParaRPr lang="en-US" sz="2400" dirty="0"/>
          </a:p>
        </p:txBody>
      </p:sp>
    </p:spTree>
    <p:extLst>
      <p:ext uri="{BB962C8B-B14F-4D97-AF65-F5344CB8AC3E}">
        <p14:creationId xmlns:p14="http://schemas.microsoft.com/office/powerpoint/2010/main" val="4199237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18366" y="99183"/>
            <a:ext cx="11559653" cy="885422"/>
          </a:xfrm>
        </p:spPr>
        <p:txBody>
          <a:bodyPr/>
          <a:lstStyle/>
          <a:p>
            <a:r>
              <a:rPr lang="es-ES" sz="3600" b="1" dirty="0" smtClean="0">
                <a:solidFill>
                  <a:srgbClr val="A50021"/>
                </a:solidFill>
                <a:cs typeface="Times New Roman" panose="02020603050405020304" pitchFamily="18" charset="0"/>
              </a:rPr>
              <a:t>Trampa: Evaluar saltos uno-por-uno</a:t>
            </a:r>
            <a:endParaRPr lang="en-US" sz="3600" dirty="0"/>
          </a:p>
        </p:txBody>
      </p:sp>
      <p:sp>
        <p:nvSpPr>
          <p:cNvPr id="3" name="Marcador de contenido 2"/>
          <p:cNvSpPr>
            <a:spLocks noGrp="1"/>
          </p:cNvSpPr>
          <p:nvPr>
            <p:ph idx="1"/>
          </p:nvPr>
        </p:nvSpPr>
        <p:spPr>
          <a:xfrm>
            <a:off x="636896" y="1372817"/>
            <a:ext cx="10972800" cy="5123520"/>
          </a:xfrm>
        </p:spPr>
        <p:txBody>
          <a:bodyPr/>
          <a:lstStyle/>
          <a:p>
            <a:pPr marL="0" indent="0">
              <a:buNone/>
            </a:pPr>
            <a:endParaRPr lang="es-ES" sz="2400" dirty="0" smtClean="0"/>
          </a:p>
          <a:p>
            <a:endParaRPr lang="en-US" sz="2400" dirty="0"/>
          </a:p>
        </p:txBody>
      </p:sp>
      <p:pic>
        <p:nvPicPr>
          <p:cNvPr id="16" name="Imagen 15"/>
          <p:cNvPicPr>
            <a:picLocks noChangeAspect="1"/>
          </p:cNvPicPr>
          <p:nvPr/>
        </p:nvPicPr>
        <p:blipFill>
          <a:blip r:embed="rId2"/>
          <a:stretch>
            <a:fillRect/>
          </a:stretch>
        </p:blipFill>
        <p:spPr>
          <a:xfrm>
            <a:off x="3191783" y="1331875"/>
            <a:ext cx="5612820" cy="4817192"/>
          </a:xfrm>
          <a:prstGeom prst="rect">
            <a:avLst/>
          </a:prstGeom>
        </p:spPr>
      </p:pic>
    </p:spTree>
    <p:extLst>
      <p:ext uri="{BB962C8B-B14F-4D97-AF65-F5344CB8AC3E}">
        <p14:creationId xmlns:p14="http://schemas.microsoft.com/office/powerpoint/2010/main" val="1387032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2" y="274639"/>
            <a:ext cx="10972800" cy="1103787"/>
          </a:xfrm>
        </p:spPr>
        <p:txBody>
          <a:bodyPr/>
          <a:lstStyle/>
          <a:p>
            <a:r>
              <a:rPr lang="es-ES" sz="3600" b="1" dirty="0" smtClean="0">
                <a:solidFill>
                  <a:srgbClr val="A50021"/>
                </a:solidFill>
                <a:cs typeface="Times New Roman" panose="02020603050405020304" pitchFamily="18" charset="0"/>
              </a:rPr>
              <a:t>Tipos de tareas de homogeneización</a:t>
            </a:r>
            <a:endParaRPr lang="en-US" sz="3600" dirty="0"/>
          </a:p>
        </p:txBody>
      </p:sp>
      <p:sp>
        <p:nvSpPr>
          <p:cNvPr id="3" name="Marcador de contenido 2"/>
          <p:cNvSpPr>
            <a:spLocks noGrp="1"/>
          </p:cNvSpPr>
          <p:nvPr>
            <p:ph idx="1"/>
          </p:nvPr>
        </p:nvSpPr>
        <p:spPr>
          <a:xfrm>
            <a:off x="609602" y="1804922"/>
            <a:ext cx="10972800" cy="4554933"/>
          </a:xfrm>
        </p:spPr>
        <p:txBody>
          <a:bodyPr/>
          <a:lstStyle/>
          <a:p>
            <a:r>
              <a:rPr lang="es-ES" sz="2201" dirty="0" smtClean="0"/>
              <a:t>Tamaño de la área de la red de estaciones</a:t>
            </a:r>
          </a:p>
          <a:p>
            <a:r>
              <a:rPr lang="es-ES" sz="2201" dirty="0" smtClean="0"/>
              <a:t>Número y densidad de estaciones. Para grandes dato bases la edición de sub-bases con características climáticas semejantes (“</a:t>
            </a:r>
            <a:r>
              <a:rPr lang="es-ES" sz="2201" dirty="0" err="1" smtClean="0"/>
              <a:t>networks</a:t>
            </a:r>
            <a:r>
              <a:rPr lang="es-ES" sz="2201" dirty="0" smtClean="0"/>
              <a:t>”) es necesario.</a:t>
            </a:r>
          </a:p>
          <a:p>
            <a:r>
              <a:rPr lang="es-ES" sz="2201" dirty="0" smtClean="0"/>
              <a:t>Variable climática</a:t>
            </a:r>
          </a:p>
          <a:p>
            <a:r>
              <a:rPr lang="es-ES" sz="2201" dirty="0" smtClean="0"/>
              <a:t>Resolución temporal de datos climáticos: diario o mensual</a:t>
            </a:r>
          </a:p>
          <a:p>
            <a:r>
              <a:rPr lang="es-ES" sz="2201" dirty="0" smtClean="0"/>
              <a:t>Ratio de señal a ruido </a:t>
            </a:r>
          </a:p>
          <a:p>
            <a:r>
              <a:rPr lang="es-ES" sz="2201" dirty="0" smtClean="0"/>
              <a:t>Las series observadas pueden cubrir periodos diferentes, y/o incluir dato lagunas</a:t>
            </a:r>
          </a:p>
          <a:p>
            <a:r>
              <a:rPr lang="es-ES" sz="2201" dirty="0" smtClean="0"/>
              <a:t>Los datos observados pueden ser acompañados o no acompañados con metadatos</a:t>
            </a:r>
          </a:p>
          <a:p>
            <a:r>
              <a:rPr lang="es-ES" sz="2201" dirty="0" smtClean="0"/>
              <a:t>Resultados </a:t>
            </a:r>
            <a:r>
              <a:rPr lang="es-ES" sz="2201" dirty="0"/>
              <a:t>de observaciones paralelas pueden contribuir a la </a:t>
            </a:r>
            <a:r>
              <a:rPr lang="es-ES" sz="2201" dirty="0" smtClean="0"/>
              <a:t>homogeneización</a:t>
            </a:r>
          </a:p>
          <a:p>
            <a:r>
              <a:rPr lang="es-ES" sz="2201" dirty="0" smtClean="0"/>
              <a:t>……..</a:t>
            </a:r>
            <a:endParaRPr lang="en-US" sz="2201" dirty="0"/>
          </a:p>
        </p:txBody>
      </p:sp>
    </p:spTree>
    <p:extLst>
      <p:ext uri="{BB962C8B-B14F-4D97-AF65-F5344CB8AC3E}">
        <p14:creationId xmlns:p14="http://schemas.microsoft.com/office/powerpoint/2010/main" val="854316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2" y="151811"/>
            <a:ext cx="10972800" cy="858126"/>
          </a:xfrm>
        </p:spPr>
        <p:txBody>
          <a:bodyPr/>
          <a:lstStyle/>
          <a:p>
            <a:r>
              <a:rPr lang="es-ES" sz="3600" b="1" dirty="0" smtClean="0">
                <a:solidFill>
                  <a:srgbClr val="A50021"/>
                </a:solidFill>
                <a:cs typeface="Times New Roman" panose="02020603050405020304" pitchFamily="18" charset="0"/>
              </a:rPr>
              <a:t>ACMANTv6 </a:t>
            </a:r>
            <a:r>
              <a:rPr lang="es-ES" sz="3600" b="1" dirty="0">
                <a:solidFill>
                  <a:srgbClr val="A50021"/>
                </a:solidFill>
                <a:cs typeface="Times New Roman" panose="02020603050405020304" pitchFamily="18" charset="0"/>
              </a:rPr>
              <a:t>atributos principales </a:t>
            </a:r>
            <a:endParaRPr lang="en-US" sz="3600" dirty="0"/>
          </a:p>
        </p:txBody>
      </p:sp>
      <p:sp>
        <p:nvSpPr>
          <p:cNvPr id="3" name="Marcador de contenido 2"/>
          <p:cNvSpPr>
            <a:spLocks noGrp="1"/>
          </p:cNvSpPr>
          <p:nvPr>
            <p:ph idx="1"/>
          </p:nvPr>
        </p:nvSpPr>
        <p:spPr>
          <a:xfrm>
            <a:off x="609602" y="1327253"/>
            <a:ext cx="10972800" cy="4937070"/>
          </a:xfrm>
        </p:spPr>
        <p:txBody>
          <a:bodyPr/>
          <a:lstStyle/>
          <a:p>
            <a:r>
              <a:rPr lang="es-ES" sz="2400" dirty="0"/>
              <a:t>Homogeneiza temperatura, cantidad de precipitación, humedad relativa, velocidad de viento, </a:t>
            </a:r>
            <a:r>
              <a:rPr lang="es-ES" sz="2400" dirty="0" smtClean="0"/>
              <a:t>rachas de viento, duración </a:t>
            </a:r>
            <a:r>
              <a:rPr lang="es-ES" sz="2400" dirty="0"/>
              <a:t>de sol, cantidad de radiación, presión atmosférica;</a:t>
            </a:r>
          </a:p>
          <a:p>
            <a:r>
              <a:rPr lang="es-ES" sz="2400" dirty="0"/>
              <a:t>Resolución: diario o </a:t>
            </a:r>
            <a:r>
              <a:rPr lang="es-ES" sz="2400" dirty="0" smtClean="0"/>
              <a:t>mensual</a:t>
            </a:r>
          </a:p>
          <a:p>
            <a:r>
              <a:rPr lang="es-ES" sz="2400" dirty="0" smtClean="0"/>
              <a:t>Modo automático o interactivo </a:t>
            </a:r>
            <a:endParaRPr lang="es-ES" sz="2400" dirty="0"/>
          </a:p>
          <a:p>
            <a:r>
              <a:rPr lang="es-ES" sz="2400" dirty="0"/>
              <a:t>Edición de redes: automático cuando es </a:t>
            </a:r>
            <a:r>
              <a:rPr lang="es-ES" sz="2400" dirty="0" smtClean="0"/>
              <a:t>necesario</a:t>
            </a:r>
            <a:endParaRPr lang="es-ES" sz="2400" dirty="0"/>
          </a:p>
          <a:p>
            <a:r>
              <a:rPr lang="es-ES" sz="2400" dirty="0"/>
              <a:t>Homogeneiza </a:t>
            </a:r>
            <a:r>
              <a:rPr lang="es-ES" sz="2400" dirty="0" smtClean="0"/>
              <a:t>promedios, estacionalidad y distribución probabilística </a:t>
            </a:r>
            <a:endParaRPr lang="es-ES" sz="2400" dirty="0"/>
          </a:p>
          <a:p>
            <a:r>
              <a:rPr lang="es-ES" sz="2400" dirty="0"/>
              <a:t>Toleración alta de dato </a:t>
            </a:r>
            <a:r>
              <a:rPr lang="es-ES" sz="2400" dirty="0" smtClean="0"/>
              <a:t>lagunas, periodos variados de la observación </a:t>
            </a:r>
            <a:endParaRPr lang="es-ES" sz="2400" dirty="0"/>
          </a:p>
          <a:p>
            <a:r>
              <a:rPr lang="es-ES" sz="2400" dirty="0"/>
              <a:t>Detecta y quita automáticamente valores atípicos</a:t>
            </a:r>
          </a:p>
          <a:p>
            <a:r>
              <a:rPr lang="es-ES" sz="2400" dirty="0"/>
              <a:t>Utiliza metadatos </a:t>
            </a:r>
            <a:r>
              <a:rPr lang="es-ES" sz="2400" dirty="0" smtClean="0"/>
              <a:t>aún en </a:t>
            </a:r>
            <a:r>
              <a:rPr lang="es-ES" sz="2400" dirty="0"/>
              <a:t>modo </a:t>
            </a:r>
            <a:r>
              <a:rPr lang="es-ES" sz="2400" dirty="0" smtClean="0"/>
              <a:t>automático  </a:t>
            </a:r>
            <a:endParaRPr lang="en-US" sz="2400" dirty="0"/>
          </a:p>
        </p:txBody>
      </p:sp>
    </p:spTree>
    <p:extLst>
      <p:ext uri="{BB962C8B-B14F-4D97-AF65-F5344CB8AC3E}">
        <p14:creationId xmlns:p14="http://schemas.microsoft.com/office/powerpoint/2010/main" val="973829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z="3600" b="1" dirty="0" smtClean="0">
                <a:solidFill>
                  <a:srgbClr val="A50021"/>
                </a:solidFill>
                <a:cs typeface="Times New Roman" panose="02020603050405020304" pitchFamily="18" charset="0"/>
              </a:rPr>
              <a:t>ACMANT en el mundo de homogeneización</a:t>
            </a:r>
            <a:endParaRPr lang="en-US" sz="3600" dirty="0"/>
          </a:p>
        </p:txBody>
      </p:sp>
      <p:sp>
        <p:nvSpPr>
          <p:cNvPr id="3" name="Marcador de contenido 2"/>
          <p:cNvSpPr>
            <a:spLocks noGrp="1"/>
          </p:cNvSpPr>
          <p:nvPr>
            <p:ph idx="1"/>
          </p:nvPr>
        </p:nvSpPr>
        <p:spPr>
          <a:xfrm>
            <a:off x="609601" y="1600208"/>
            <a:ext cx="10972802" cy="4746001"/>
          </a:xfrm>
        </p:spPr>
        <p:txBody>
          <a:bodyPr/>
          <a:lstStyle/>
          <a:p>
            <a:pPr>
              <a:spcAft>
                <a:spcPts val="599"/>
              </a:spcAft>
            </a:pPr>
            <a:r>
              <a:rPr lang="es-ES" sz="2400" dirty="0" smtClean="0"/>
              <a:t>El desarrollo de ACMANT es basado en la selección de métodos estadísticos que tratan con eficaz las ocurrencias múltiples de </a:t>
            </a:r>
            <a:r>
              <a:rPr lang="es-ES" sz="2400" dirty="0" err="1" smtClean="0"/>
              <a:t>inhomogeneidades</a:t>
            </a:r>
            <a:r>
              <a:rPr lang="es-ES" sz="2400" dirty="0"/>
              <a:t>.</a:t>
            </a:r>
            <a:endParaRPr lang="es-ES" sz="2400" dirty="0" smtClean="0"/>
          </a:p>
          <a:p>
            <a:pPr>
              <a:spcAft>
                <a:spcPts val="599"/>
              </a:spcAft>
            </a:pPr>
            <a:r>
              <a:rPr lang="es-ES" sz="2400" dirty="0" err="1" smtClean="0"/>
              <a:t>Tests</a:t>
            </a:r>
            <a:r>
              <a:rPr lang="es-ES" sz="2400" dirty="0" smtClean="0"/>
              <a:t> </a:t>
            </a:r>
            <a:r>
              <a:rPr lang="es-ES" sz="2400" dirty="0" smtClean="0"/>
              <a:t>de métodos de homogeneización indican que probablemente ACMANT es el método más preciso entre los métodos existentes.</a:t>
            </a:r>
          </a:p>
          <a:p>
            <a:pPr>
              <a:spcAft>
                <a:spcPts val="599"/>
              </a:spcAft>
            </a:pPr>
            <a:r>
              <a:rPr lang="es-ES" sz="2400" dirty="0" smtClean="0"/>
              <a:t>Hasta ahora ACMANT es poco usado en el mundo.  </a:t>
            </a:r>
          </a:p>
          <a:p>
            <a:pPr>
              <a:spcAft>
                <a:spcPts val="599"/>
              </a:spcAft>
            </a:pPr>
            <a:r>
              <a:rPr lang="es-ES" sz="2400" dirty="0" smtClean="0"/>
              <a:t>El </a:t>
            </a:r>
            <a:r>
              <a:rPr lang="es-ES" sz="2400" dirty="0" err="1" smtClean="0"/>
              <a:t>Servei</a:t>
            </a:r>
            <a:r>
              <a:rPr lang="es-ES" sz="2400" dirty="0" smtClean="0"/>
              <a:t> </a:t>
            </a:r>
            <a:r>
              <a:rPr lang="es-ES" sz="2400" dirty="0" err="1" smtClean="0"/>
              <a:t>Meteorologic</a:t>
            </a:r>
            <a:r>
              <a:rPr lang="es-ES" sz="2400" dirty="0" smtClean="0"/>
              <a:t> de Catalunya apoya el desarrollo desde 2018. ACMANTv4 es la última versión libre. ACMANTv5 y ACMANTv6 serán liberados a partir del 2028</a:t>
            </a:r>
            <a:r>
              <a:rPr lang="es-ES" sz="2400" dirty="0" smtClean="0"/>
              <a:t>.</a:t>
            </a:r>
          </a:p>
          <a:p>
            <a:pPr>
              <a:spcAft>
                <a:spcPts val="599"/>
              </a:spcAft>
            </a:pPr>
            <a:r>
              <a:rPr lang="es-ES" sz="2400" dirty="0" smtClean="0"/>
              <a:t>La OMM da recomendaciones periódicamente sobre el uso de métodos estadísticos en climatología.    </a:t>
            </a:r>
            <a:endParaRPr lang="es-ES" sz="2400" dirty="0"/>
          </a:p>
        </p:txBody>
      </p:sp>
    </p:spTree>
    <p:extLst>
      <p:ext uri="{BB962C8B-B14F-4D97-AF65-F5344CB8AC3E}">
        <p14:creationId xmlns:p14="http://schemas.microsoft.com/office/powerpoint/2010/main" val="32403089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2" y="110866"/>
            <a:ext cx="10972800" cy="762594"/>
          </a:xfrm>
        </p:spPr>
        <p:txBody>
          <a:bodyPr/>
          <a:lstStyle/>
          <a:p>
            <a:r>
              <a:rPr lang="es-ES" sz="3600" b="1" dirty="0" smtClean="0">
                <a:solidFill>
                  <a:srgbClr val="A50021"/>
                </a:solidFill>
                <a:cs typeface="Times New Roman" panose="02020603050405020304" pitchFamily="18" charset="0"/>
              </a:rPr>
              <a:t>ACMANTv6 </a:t>
            </a:r>
            <a:r>
              <a:rPr lang="es-ES" sz="3600" b="1" dirty="0">
                <a:solidFill>
                  <a:srgbClr val="A50021"/>
                </a:solidFill>
                <a:cs typeface="Times New Roman" panose="02020603050405020304" pitchFamily="18" charset="0"/>
              </a:rPr>
              <a:t>Condiciones del uso</a:t>
            </a:r>
            <a:endParaRPr lang="en-US" sz="3600" dirty="0"/>
          </a:p>
        </p:txBody>
      </p:sp>
      <p:sp>
        <p:nvSpPr>
          <p:cNvPr id="3" name="Marcador de contenido 2"/>
          <p:cNvSpPr>
            <a:spLocks noGrp="1"/>
          </p:cNvSpPr>
          <p:nvPr>
            <p:ph idx="1"/>
          </p:nvPr>
        </p:nvSpPr>
        <p:spPr>
          <a:xfrm>
            <a:off x="609602" y="1108887"/>
            <a:ext cx="10972800" cy="5523927"/>
          </a:xfrm>
        </p:spPr>
        <p:txBody>
          <a:bodyPr/>
          <a:lstStyle/>
          <a:p>
            <a:r>
              <a:rPr lang="es-ES" sz="2201" dirty="0"/>
              <a:t>Dato bases de 4 a 5.000 series de tiempo</a:t>
            </a:r>
          </a:p>
          <a:p>
            <a:r>
              <a:rPr lang="es-ES" sz="2201" dirty="0"/>
              <a:t>Largo de series: 10 a 200 años</a:t>
            </a:r>
          </a:p>
          <a:p>
            <a:r>
              <a:rPr lang="es-ES" sz="2201" dirty="0"/>
              <a:t>Cantidad mínima de datos mensuales observados: 90</a:t>
            </a:r>
          </a:p>
          <a:p>
            <a:r>
              <a:rPr lang="es-ES" sz="2201" dirty="0"/>
              <a:t>Correlación espacial </a:t>
            </a:r>
            <a:r>
              <a:rPr lang="es-ES" sz="2201" dirty="0" smtClean="0"/>
              <a:t>mínima de </a:t>
            </a:r>
            <a:r>
              <a:rPr lang="es-ES" sz="2201" dirty="0"/>
              <a:t>series comparables: </a:t>
            </a:r>
            <a:r>
              <a:rPr lang="es-ES" sz="2201" dirty="0" smtClean="0"/>
              <a:t>0.4 (cambiable)</a:t>
            </a:r>
            <a:endParaRPr lang="es-ES" sz="2201" dirty="0"/>
          </a:p>
          <a:p>
            <a:r>
              <a:rPr lang="es-ES" sz="2201" dirty="0"/>
              <a:t>Número de series en un </a:t>
            </a:r>
            <a:r>
              <a:rPr lang="es-ES" sz="2201" dirty="0" err="1"/>
              <a:t>network</a:t>
            </a:r>
            <a:r>
              <a:rPr lang="es-ES" sz="2201" dirty="0"/>
              <a:t>: de 4 a 99</a:t>
            </a:r>
          </a:p>
          <a:p>
            <a:r>
              <a:rPr lang="es-ES" sz="2201" dirty="0"/>
              <a:t>Tolerancia del ratio de dato ausencia en la escala mensual: hasta 75% en los primeros 5 años y últimos 5 años y ilimitado en otros secciones, pero series con dato lagunas mas largas que 5-6 años no deben usadas como referencias  </a:t>
            </a:r>
          </a:p>
          <a:p>
            <a:r>
              <a:rPr lang="es-ES" sz="2201" dirty="0"/>
              <a:t>Un dato mensual es considerado observado cuando 75% de sus datos diarios son observados (100% en series de precipitación) </a:t>
            </a:r>
          </a:p>
          <a:p>
            <a:r>
              <a:rPr lang="es-ES" sz="2201" dirty="0"/>
              <a:t>Secciones de series sin al menos 3 series vecinales con datos observados pueden ser excluidos desde la homogeneización, pero pueden recibir correcciones por los resultados recibidos en otros periodos.</a:t>
            </a:r>
          </a:p>
          <a:p>
            <a:r>
              <a:rPr lang="es-ES" sz="2201" dirty="0"/>
              <a:t>Control de calidad previa de series es recomendado</a:t>
            </a:r>
            <a:endParaRPr lang="en-US" sz="2201" dirty="0"/>
          </a:p>
        </p:txBody>
      </p:sp>
    </p:spTree>
    <p:extLst>
      <p:ext uri="{BB962C8B-B14F-4D97-AF65-F5344CB8AC3E}">
        <p14:creationId xmlns:p14="http://schemas.microsoft.com/office/powerpoint/2010/main" val="5228804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2" y="110865"/>
            <a:ext cx="10972800" cy="748946"/>
          </a:xfrm>
        </p:spPr>
        <p:txBody>
          <a:bodyPr/>
          <a:lstStyle/>
          <a:p>
            <a:r>
              <a:rPr lang="es-ES" sz="3600" b="1" dirty="0" smtClean="0">
                <a:solidFill>
                  <a:srgbClr val="A50021"/>
                </a:solidFill>
                <a:cs typeface="Times New Roman" panose="02020603050405020304" pitchFamily="18" charset="0"/>
              </a:rPr>
              <a:t>ACMANTv6 atributos</a:t>
            </a:r>
            <a:endParaRPr lang="en-US" sz="3600" dirty="0"/>
          </a:p>
        </p:txBody>
      </p:sp>
      <p:sp>
        <p:nvSpPr>
          <p:cNvPr id="3" name="Marcador de contenido 2"/>
          <p:cNvSpPr>
            <a:spLocks noGrp="1"/>
          </p:cNvSpPr>
          <p:nvPr>
            <p:ph idx="1"/>
          </p:nvPr>
        </p:nvSpPr>
        <p:spPr>
          <a:xfrm>
            <a:off x="304802" y="986058"/>
            <a:ext cx="10972800" cy="5714994"/>
          </a:xfrm>
        </p:spPr>
        <p:txBody>
          <a:bodyPr/>
          <a:lstStyle/>
          <a:p>
            <a:r>
              <a:rPr lang="es-ES" sz="2201" dirty="0"/>
              <a:t>Todas las series de un </a:t>
            </a:r>
            <a:r>
              <a:rPr lang="es-ES" sz="2201" dirty="0" err="1"/>
              <a:t>network</a:t>
            </a:r>
            <a:r>
              <a:rPr lang="es-ES" sz="2201" dirty="0"/>
              <a:t> están homogeneizadas paralelamente.</a:t>
            </a:r>
          </a:p>
          <a:p>
            <a:r>
              <a:rPr lang="es-ES" sz="2201" dirty="0"/>
              <a:t>Las homogeneizaciones en </a:t>
            </a:r>
            <a:r>
              <a:rPr lang="es-ES" sz="2201" dirty="0" err="1"/>
              <a:t>networks</a:t>
            </a:r>
            <a:r>
              <a:rPr lang="es-ES" sz="2201" dirty="0"/>
              <a:t> diferentes son completamente independientes</a:t>
            </a:r>
          </a:p>
          <a:p>
            <a:r>
              <a:rPr lang="es-ES" sz="2201" dirty="0" err="1"/>
              <a:t>Bivariate</a:t>
            </a:r>
            <a:r>
              <a:rPr lang="es-ES" sz="2201" dirty="0"/>
              <a:t> homogeneización: aplicable cuando dos variables estadísticamente independientes frecuentemente tienen saltos comunes</a:t>
            </a:r>
          </a:p>
          <a:p>
            <a:r>
              <a:rPr lang="es-ES" sz="2201" dirty="0"/>
              <a:t>En la detección principal de saltos la distancia mínima entre dos saltos es 3 años. Esto justifica que solo series con al menos 10 años son considerados</a:t>
            </a:r>
            <a:r>
              <a:rPr lang="es-ES" sz="2201" dirty="0" smtClean="0"/>
              <a:t>.</a:t>
            </a:r>
          </a:p>
          <a:p>
            <a:r>
              <a:rPr lang="es-ES" sz="2201" dirty="0" smtClean="0"/>
              <a:t>Los valores anuales están homogeneizadas en 3 ciclos. </a:t>
            </a:r>
            <a:r>
              <a:rPr lang="es-ES" sz="2201" dirty="0"/>
              <a:t>A</a:t>
            </a:r>
            <a:r>
              <a:rPr lang="es-ES" sz="2201" dirty="0" smtClean="0"/>
              <a:t> estos pasos sigue la homogeneización de estacionalidad, y después la homogeneización de distribución probabilística (PDF). Los promedios anuales para cada HSP (= “</a:t>
            </a:r>
            <a:r>
              <a:rPr lang="es-ES" sz="2201" dirty="0" err="1" smtClean="0"/>
              <a:t>homogeneous</a:t>
            </a:r>
            <a:r>
              <a:rPr lang="es-ES" sz="2201" dirty="0" smtClean="0"/>
              <a:t> </a:t>
            </a:r>
            <a:r>
              <a:rPr lang="es-ES" sz="2201" dirty="0" err="1" smtClean="0"/>
              <a:t>subperiod</a:t>
            </a:r>
            <a:r>
              <a:rPr lang="es-ES" sz="2201" dirty="0" smtClean="0"/>
              <a:t>”) están preservados en las operaciones mas tardías, y los promedios mensuales están preservados en la homogeneización de PDF.</a:t>
            </a:r>
          </a:p>
          <a:p>
            <a:r>
              <a:rPr lang="es-ES" sz="2400" dirty="0">
                <a:solidFill>
                  <a:schemeClr val="accent2">
                    <a:lumMod val="50000"/>
                  </a:schemeClr>
                </a:solidFill>
              </a:rPr>
              <a:t>C</a:t>
            </a:r>
            <a:r>
              <a:rPr lang="es-ES" sz="2400" dirty="0" smtClean="0">
                <a:solidFill>
                  <a:schemeClr val="accent2">
                    <a:lumMod val="50000"/>
                  </a:schemeClr>
                </a:solidFill>
              </a:rPr>
              <a:t>lave de la homogeneización eficiente: ACMANT reduce o elimina las </a:t>
            </a:r>
            <a:r>
              <a:rPr lang="es-ES" sz="2400" dirty="0" err="1" smtClean="0">
                <a:solidFill>
                  <a:schemeClr val="accent2">
                    <a:lumMod val="50000"/>
                  </a:schemeClr>
                </a:solidFill>
              </a:rPr>
              <a:t>inhomogeneidades</a:t>
            </a:r>
            <a:r>
              <a:rPr lang="es-ES" sz="2400" dirty="0" smtClean="0">
                <a:solidFill>
                  <a:schemeClr val="accent2">
                    <a:lumMod val="50000"/>
                  </a:schemeClr>
                </a:solidFill>
              </a:rPr>
              <a:t> por calculaciones unificadas por sistema de ecuación.</a:t>
            </a:r>
          </a:p>
          <a:p>
            <a:endParaRPr lang="es-ES" sz="1200" dirty="0"/>
          </a:p>
          <a:p>
            <a:r>
              <a:rPr lang="es-ES" sz="2800" dirty="0" smtClean="0"/>
              <a:t>Referencias: </a:t>
            </a:r>
            <a:r>
              <a:rPr lang="es-ES" sz="2800" dirty="0" smtClean="0">
                <a:hlinkClick r:id="rId2"/>
              </a:rPr>
              <a:t>https</a:t>
            </a:r>
            <a:r>
              <a:rPr lang="es-ES" sz="2800" dirty="0">
                <a:hlinkClick r:id="rId2"/>
              </a:rPr>
              <a:t>://www.acmant.eu/scientific-literature/</a:t>
            </a:r>
            <a:r>
              <a:rPr lang="es-ES" sz="2800" dirty="0"/>
              <a:t> </a:t>
            </a:r>
          </a:p>
          <a:p>
            <a:pPr marL="0" indent="0">
              <a:spcAft>
                <a:spcPts val="0"/>
              </a:spcAft>
              <a:buNone/>
            </a:pPr>
            <a:endParaRPr lang="es-ES" sz="1600" dirty="0"/>
          </a:p>
        </p:txBody>
      </p:sp>
    </p:spTree>
    <p:extLst>
      <p:ext uri="{BB962C8B-B14F-4D97-AF65-F5344CB8AC3E}">
        <p14:creationId xmlns:p14="http://schemas.microsoft.com/office/powerpoint/2010/main" val="3541122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070746" y="239215"/>
            <a:ext cx="5391695" cy="819673"/>
          </a:xfrm>
        </p:spPr>
        <p:txBody>
          <a:bodyPr>
            <a:normAutofit/>
          </a:bodyPr>
          <a:lstStyle/>
          <a:p>
            <a:pPr algn="ctr"/>
            <a:r>
              <a:rPr lang="es-ES" sz="3600" b="1" dirty="0" smtClean="0">
                <a:solidFill>
                  <a:srgbClr val="A50021"/>
                </a:solidFill>
                <a:latin typeface="Arial" panose="020B0604020202020204" pitchFamily="34" charset="0"/>
                <a:cs typeface="Arial" panose="020B0604020202020204" pitchFamily="34" charset="0"/>
              </a:rPr>
              <a:t>ACMANTv6 Esquema</a:t>
            </a:r>
            <a:endParaRPr lang="en-US" sz="3600" b="1" dirty="0">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a:xfrm>
            <a:off x="3842263" y="1131844"/>
            <a:ext cx="4507481" cy="5129612"/>
          </a:xfrm>
        </p:spPr>
        <p:txBody>
          <a:bodyPr/>
          <a:lstStyle/>
          <a:p>
            <a:pPr marL="0" indent="0">
              <a:buNone/>
            </a:pPr>
            <a:r>
              <a:rPr lang="es-ES" dirty="0" smtClean="0"/>
              <a:t> </a:t>
            </a:r>
            <a:endParaRPr lang="en-US" dirty="0"/>
          </a:p>
        </p:txBody>
      </p:sp>
      <p:sp>
        <p:nvSpPr>
          <p:cNvPr id="4" name="Rectángulo 3"/>
          <p:cNvSpPr/>
          <p:nvPr/>
        </p:nvSpPr>
        <p:spPr>
          <a:xfrm>
            <a:off x="4068171" y="1269599"/>
            <a:ext cx="3997656" cy="4444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92">
              <a:solidFill>
                <a:prstClr val="white"/>
              </a:solidFill>
            </a:endParaRPr>
          </a:p>
        </p:txBody>
      </p:sp>
      <p:sp>
        <p:nvSpPr>
          <p:cNvPr id="5" name="Rectángulo 4"/>
          <p:cNvSpPr/>
          <p:nvPr/>
        </p:nvSpPr>
        <p:spPr>
          <a:xfrm>
            <a:off x="4068169" y="2150176"/>
            <a:ext cx="3997657" cy="4444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92">
              <a:solidFill>
                <a:prstClr val="white"/>
              </a:solidFill>
            </a:endParaRPr>
          </a:p>
        </p:txBody>
      </p:sp>
      <p:sp>
        <p:nvSpPr>
          <p:cNvPr id="6" name="CuadroTexto 5"/>
          <p:cNvSpPr txBox="1"/>
          <p:nvPr/>
        </p:nvSpPr>
        <p:spPr>
          <a:xfrm>
            <a:off x="5049671" y="1323222"/>
            <a:ext cx="2020409" cy="369332"/>
          </a:xfrm>
          <a:prstGeom prst="rect">
            <a:avLst/>
          </a:prstGeom>
          <a:noFill/>
        </p:spPr>
        <p:txBody>
          <a:bodyPr wrap="square" rtlCol="0">
            <a:spAutoFit/>
          </a:bodyPr>
          <a:lstStyle/>
          <a:p>
            <a:pPr algn="ctr"/>
            <a:r>
              <a:rPr lang="es-ES" dirty="0" smtClean="0">
                <a:solidFill>
                  <a:prstClr val="black"/>
                </a:solidFill>
              </a:rPr>
              <a:t>Pasos preparatorios</a:t>
            </a:r>
            <a:endParaRPr lang="es-ES" dirty="0">
              <a:solidFill>
                <a:prstClr val="black"/>
              </a:solidFill>
            </a:endParaRPr>
          </a:p>
        </p:txBody>
      </p:sp>
      <p:cxnSp>
        <p:nvCxnSpPr>
          <p:cNvPr id="7" name="Conector recto de flecha 6"/>
          <p:cNvCxnSpPr/>
          <p:nvPr/>
        </p:nvCxnSpPr>
        <p:spPr>
          <a:xfrm>
            <a:off x="6074278" y="1726574"/>
            <a:ext cx="0" cy="423602"/>
          </a:xfrm>
          <a:prstGeom prst="straightConnector1">
            <a:avLst/>
          </a:prstGeom>
          <a:ln w="44450">
            <a:solidFill>
              <a:schemeClr val="tx1"/>
            </a:solidFill>
            <a:headEnd type="none" w="med" len="med"/>
            <a:tailEnd type="stealth" w="lg" len="lg"/>
          </a:ln>
        </p:spPr>
        <p:style>
          <a:lnRef idx="1">
            <a:schemeClr val="accent1"/>
          </a:lnRef>
          <a:fillRef idx="0">
            <a:schemeClr val="accent1"/>
          </a:fillRef>
          <a:effectRef idx="0">
            <a:schemeClr val="accent1"/>
          </a:effectRef>
          <a:fontRef idx="minor">
            <a:schemeClr val="tx1"/>
          </a:fontRef>
        </p:style>
      </p:cxnSp>
      <p:sp>
        <p:nvSpPr>
          <p:cNvPr id="8" name="CuadroTexto 7"/>
          <p:cNvSpPr txBox="1"/>
          <p:nvPr/>
        </p:nvSpPr>
        <p:spPr>
          <a:xfrm>
            <a:off x="4258102" y="2195297"/>
            <a:ext cx="3621068" cy="369332"/>
          </a:xfrm>
          <a:prstGeom prst="rect">
            <a:avLst/>
          </a:prstGeom>
          <a:noFill/>
        </p:spPr>
        <p:txBody>
          <a:bodyPr wrap="square" rtlCol="0">
            <a:spAutoFit/>
          </a:bodyPr>
          <a:lstStyle/>
          <a:p>
            <a:pPr algn="ctr"/>
            <a:r>
              <a:rPr lang="es-ES" dirty="0" smtClean="0">
                <a:solidFill>
                  <a:prstClr val="black"/>
                </a:solidFill>
              </a:rPr>
              <a:t>1° ciclo de homogeneización anual</a:t>
            </a:r>
            <a:endParaRPr lang="es-ES" dirty="0">
              <a:solidFill>
                <a:prstClr val="black"/>
              </a:solidFill>
            </a:endParaRPr>
          </a:p>
        </p:txBody>
      </p:sp>
      <p:sp>
        <p:nvSpPr>
          <p:cNvPr id="9" name="Rectángulo 8"/>
          <p:cNvSpPr/>
          <p:nvPr/>
        </p:nvSpPr>
        <p:spPr>
          <a:xfrm>
            <a:off x="4078338" y="2977818"/>
            <a:ext cx="3987488" cy="4444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92">
              <a:solidFill>
                <a:prstClr val="white"/>
              </a:solidFill>
            </a:endParaRPr>
          </a:p>
        </p:txBody>
      </p:sp>
      <p:cxnSp>
        <p:nvCxnSpPr>
          <p:cNvPr id="10" name="Conector recto de flecha 9"/>
          <p:cNvCxnSpPr/>
          <p:nvPr/>
        </p:nvCxnSpPr>
        <p:spPr>
          <a:xfrm>
            <a:off x="6044907" y="2594608"/>
            <a:ext cx="0" cy="383210"/>
          </a:xfrm>
          <a:prstGeom prst="straightConnector1">
            <a:avLst/>
          </a:prstGeom>
          <a:ln w="44450">
            <a:solidFill>
              <a:schemeClr val="tx1"/>
            </a:solidFill>
            <a:headEnd type="none" w="med" len="med"/>
            <a:tailEnd type="stealth" w="lg" len="lg"/>
          </a:ln>
        </p:spPr>
        <p:style>
          <a:lnRef idx="1">
            <a:schemeClr val="accent1"/>
          </a:lnRef>
          <a:fillRef idx="0">
            <a:schemeClr val="accent1"/>
          </a:fillRef>
          <a:effectRef idx="0">
            <a:schemeClr val="accent1"/>
          </a:effectRef>
          <a:fontRef idx="minor">
            <a:schemeClr val="tx1"/>
          </a:fontRef>
        </p:style>
      </p:cxnSp>
      <p:sp>
        <p:nvSpPr>
          <p:cNvPr id="11" name="CuadroTexto 10"/>
          <p:cNvSpPr txBox="1"/>
          <p:nvPr/>
        </p:nvSpPr>
        <p:spPr>
          <a:xfrm>
            <a:off x="4258102" y="3009602"/>
            <a:ext cx="3621067" cy="369332"/>
          </a:xfrm>
          <a:prstGeom prst="rect">
            <a:avLst/>
          </a:prstGeom>
          <a:noFill/>
        </p:spPr>
        <p:txBody>
          <a:bodyPr wrap="square" rtlCol="0">
            <a:spAutoFit/>
          </a:bodyPr>
          <a:lstStyle/>
          <a:p>
            <a:pPr algn="ctr"/>
            <a:r>
              <a:rPr lang="es-ES" dirty="0" smtClean="0">
                <a:solidFill>
                  <a:prstClr val="black"/>
                </a:solidFill>
              </a:rPr>
              <a:t>2° </a:t>
            </a:r>
            <a:r>
              <a:rPr lang="es-ES" dirty="0">
                <a:solidFill>
                  <a:prstClr val="black"/>
                </a:solidFill>
              </a:rPr>
              <a:t>ciclo de </a:t>
            </a:r>
            <a:r>
              <a:rPr lang="es-ES" dirty="0" smtClean="0">
                <a:solidFill>
                  <a:prstClr val="black"/>
                </a:solidFill>
              </a:rPr>
              <a:t>homogeneización anual</a:t>
            </a:r>
            <a:endParaRPr lang="es-ES" dirty="0">
              <a:solidFill>
                <a:prstClr val="black"/>
              </a:solidFill>
            </a:endParaRPr>
          </a:p>
        </p:txBody>
      </p:sp>
      <p:cxnSp>
        <p:nvCxnSpPr>
          <p:cNvPr id="12" name="Conector recto de flecha 11"/>
          <p:cNvCxnSpPr/>
          <p:nvPr/>
        </p:nvCxnSpPr>
        <p:spPr>
          <a:xfrm>
            <a:off x="6044907" y="3421912"/>
            <a:ext cx="0" cy="401539"/>
          </a:xfrm>
          <a:prstGeom prst="straightConnector1">
            <a:avLst/>
          </a:prstGeom>
          <a:ln w="44450">
            <a:solidFill>
              <a:schemeClr val="tx1"/>
            </a:solidFill>
            <a:headEnd type="none" w="med" len="med"/>
            <a:tailEnd type="stealth" w="lg" len="lg"/>
          </a:ln>
        </p:spPr>
        <p:style>
          <a:lnRef idx="1">
            <a:schemeClr val="accent1"/>
          </a:lnRef>
          <a:fillRef idx="0">
            <a:schemeClr val="accent1"/>
          </a:fillRef>
          <a:effectRef idx="0">
            <a:schemeClr val="accent1"/>
          </a:effectRef>
          <a:fontRef idx="minor">
            <a:schemeClr val="tx1"/>
          </a:fontRef>
        </p:style>
      </p:cxnSp>
      <p:sp>
        <p:nvSpPr>
          <p:cNvPr id="13" name="Rectángulo 12"/>
          <p:cNvSpPr/>
          <p:nvPr/>
        </p:nvSpPr>
        <p:spPr>
          <a:xfrm>
            <a:off x="4078338" y="3823451"/>
            <a:ext cx="3987488" cy="4444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92">
              <a:solidFill>
                <a:prstClr val="white"/>
              </a:solidFill>
            </a:endParaRPr>
          </a:p>
        </p:txBody>
      </p:sp>
      <p:sp>
        <p:nvSpPr>
          <p:cNvPr id="14" name="CuadroTexto 13"/>
          <p:cNvSpPr txBox="1"/>
          <p:nvPr/>
        </p:nvSpPr>
        <p:spPr>
          <a:xfrm>
            <a:off x="4258102" y="3852204"/>
            <a:ext cx="3621068" cy="369332"/>
          </a:xfrm>
          <a:prstGeom prst="rect">
            <a:avLst/>
          </a:prstGeom>
          <a:noFill/>
        </p:spPr>
        <p:txBody>
          <a:bodyPr wrap="square" rtlCol="0">
            <a:spAutoFit/>
          </a:bodyPr>
          <a:lstStyle/>
          <a:p>
            <a:pPr algn="ctr"/>
            <a:r>
              <a:rPr lang="es-ES" dirty="0" smtClean="0">
                <a:solidFill>
                  <a:prstClr val="black"/>
                </a:solidFill>
              </a:rPr>
              <a:t>3° </a:t>
            </a:r>
            <a:r>
              <a:rPr lang="es-ES" dirty="0">
                <a:solidFill>
                  <a:prstClr val="black"/>
                </a:solidFill>
              </a:rPr>
              <a:t>ciclo de </a:t>
            </a:r>
            <a:r>
              <a:rPr lang="es-ES" dirty="0" smtClean="0">
                <a:solidFill>
                  <a:prstClr val="black"/>
                </a:solidFill>
              </a:rPr>
              <a:t>homogeneización anual</a:t>
            </a:r>
            <a:endParaRPr lang="es-ES" dirty="0">
              <a:solidFill>
                <a:prstClr val="black"/>
              </a:solidFill>
            </a:endParaRPr>
          </a:p>
        </p:txBody>
      </p:sp>
      <p:sp>
        <p:nvSpPr>
          <p:cNvPr id="15" name="Rectángulo 14"/>
          <p:cNvSpPr/>
          <p:nvPr/>
        </p:nvSpPr>
        <p:spPr>
          <a:xfrm>
            <a:off x="2647042" y="4712922"/>
            <a:ext cx="3427236" cy="4444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92">
              <a:solidFill>
                <a:prstClr val="white"/>
              </a:solidFill>
            </a:endParaRPr>
          </a:p>
        </p:txBody>
      </p:sp>
      <p:cxnSp>
        <p:nvCxnSpPr>
          <p:cNvPr id="16" name="Conector recto de flecha 15"/>
          <p:cNvCxnSpPr/>
          <p:nvPr/>
        </p:nvCxnSpPr>
        <p:spPr>
          <a:xfrm>
            <a:off x="4863315" y="4267883"/>
            <a:ext cx="0" cy="423602"/>
          </a:xfrm>
          <a:prstGeom prst="straightConnector1">
            <a:avLst/>
          </a:prstGeom>
          <a:ln>
            <a:solidFill>
              <a:schemeClr val="tx1"/>
            </a:solidFill>
            <a:headEnd type="none" w="med" len="med"/>
            <a:tailEnd type="stealth" w="lg" len="lg"/>
          </a:ln>
        </p:spPr>
        <p:style>
          <a:lnRef idx="1">
            <a:schemeClr val="accent1"/>
          </a:lnRef>
          <a:fillRef idx="0">
            <a:schemeClr val="accent1"/>
          </a:fillRef>
          <a:effectRef idx="0">
            <a:schemeClr val="accent1"/>
          </a:effectRef>
          <a:fontRef idx="minor">
            <a:schemeClr val="tx1"/>
          </a:fontRef>
        </p:style>
      </p:cxnSp>
      <p:sp>
        <p:nvSpPr>
          <p:cNvPr id="17" name="CuadroTexto 16"/>
          <p:cNvSpPr txBox="1"/>
          <p:nvPr/>
        </p:nvSpPr>
        <p:spPr>
          <a:xfrm>
            <a:off x="2551507" y="4739320"/>
            <a:ext cx="3618305" cy="369332"/>
          </a:xfrm>
          <a:prstGeom prst="rect">
            <a:avLst/>
          </a:prstGeom>
          <a:noFill/>
        </p:spPr>
        <p:txBody>
          <a:bodyPr wrap="square" rtlCol="0">
            <a:spAutoFit/>
          </a:bodyPr>
          <a:lstStyle/>
          <a:p>
            <a:r>
              <a:rPr lang="en-US" dirty="0">
                <a:solidFill>
                  <a:prstClr val="black"/>
                </a:solidFill>
              </a:rPr>
              <a:t> </a:t>
            </a:r>
            <a:r>
              <a:rPr lang="es-ES" dirty="0" smtClean="0">
                <a:solidFill>
                  <a:prstClr val="black"/>
                </a:solidFill>
              </a:rPr>
              <a:t>Homogeneización de estacionalidad</a:t>
            </a:r>
            <a:endParaRPr lang="es-ES" sz="1460" dirty="0">
              <a:solidFill>
                <a:prstClr val="black"/>
              </a:solidFill>
            </a:endParaRPr>
          </a:p>
        </p:txBody>
      </p:sp>
      <p:cxnSp>
        <p:nvCxnSpPr>
          <p:cNvPr id="18" name="Conector recto 17"/>
          <p:cNvCxnSpPr/>
          <p:nvPr/>
        </p:nvCxnSpPr>
        <p:spPr>
          <a:xfrm flipH="1" flipV="1">
            <a:off x="2016227" y="4105702"/>
            <a:ext cx="2051943" cy="16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cto 18"/>
          <p:cNvCxnSpPr/>
          <p:nvPr/>
        </p:nvCxnSpPr>
        <p:spPr>
          <a:xfrm>
            <a:off x="2016227" y="4105702"/>
            <a:ext cx="22336" cy="10797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ector recto de flecha 19"/>
          <p:cNvCxnSpPr/>
          <p:nvPr/>
        </p:nvCxnSpPr>
        <p:spPr>
          <a:xfrm>
            <a:off x="5758561" y="5185481"/>
            <a:ext cx="0" cy="423602"/>
          </a:xfrm>
          <a:prstGeom prst="straightConnector1">
            <a:avLst/>
          </a:prstGeom>
          <a:ln>
            <a:solidFill>
              <a:schemeClr val="tx1"/>
            </a:solidFill>
            <a:headEnd type="none" w="med" len="med"/>
            <a:tailEnd type="stealth" w="lg" len="lg"/>
          </a:ln>
        </p:spPr>
        <p:style>
          <a:lnRef idx="1">
            <a:schemeClr val="accent1"/>
          </a:lnRef>
          <a:fillRef idx="0">
            <a:schemeClr val="accent1"/>
          </a:fillRef>
          <a:effectRef idx="0">
            <a:schemeClr val="accent1"/>
          </a:effectRef>
          <a:fontRef idx="minor">
            <a:schemeClr val="tx1"/>
          </a:fontRef>
        </p:style>
      </p:cxnSp>
      <p:sp>
        <p:nvSpPr>
          <p:cNvPr id="21" name="Rectángulo 20"/>
          <p:cNvSpPr/>
          <p:nvPr/>
        </p:nvSpPr>
        <p:spPr>
          <a:xfrm>
            <a:off x="4543056" y="5623927"/>
            <a:ext cx="3427236" cy="4444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92">
              <a:solidFill>
                <a:prstClr val="white"/>
              </a:solidFill>
            </a:endParaRPr>
          </a:p>
        </p:txBody>
      </p:sp>
      <p:sp>
        <p:nvSpPr>
          <p:cNvPr id="22" name="CuadroTexto 21"/>
          <p:cNvSpPr txBox="1"/>
          <p:nvPr/>
        </p:nvSpPr>
        <p:spPr>
          <a:xfrm>
            <a:off x="5049671" y="5661477"/>
            <a:ext cx="2415653" cy="369332"/>
          </a:xfrm>
          <a:prstGeom prst="rect">
            <a:avLst/>
          </a:prstGeom>
          <a:noFill/>
        </p:spPr>
        <p:txBody>
          <a:bodyPr wrap="square" rtlCol="0">
            <a:spAutoFit/>
          </a:bodyPr>
          <a:lstStyle/>
          <a:p>
            <a:pPr algn="ctr"/>
            <a:r>
              <a:rPr lang="es-ES" dirty="0" smtClean="0">
                <a:solidFill>
                  <a:prstClr val="black"/>
                </a:solidFill>
              </a:rPr>
              <a:t>Operaciones terminales</a:t>
            </a:r>
            <a:endParaRPr lang="es-ES" dirty="0">
              <a:solidFill>
                <a:prstClr val="black"/>
              </a:solidFill>
            </a:endParaRPr>
          </a:p>
        </p:txBody>
      </p:sp>
      <p:cxnSp>
        <p:nvCxnSpPr>
          <p:cNvPr id="23" name="Conector recto de flecha 22"/>
          <p:cNvCxnSpPr>
            <a:endCxn id="21" idx="1"/>
          </p:cNvCxnSpPr>
          <p:nvPr/>
        </p:nvCxnSpPr>
        <p:spPr>
          <a:xfrm>
            <a:off x="2061303" y="5191227"/>
            <a:ext cx="2481753" cy="654916"/>
          </a:xfrm>
          <a:prstGeom prst="straightConnector1">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9" name="Rectángulo 28"/>
          <p:cNvSpPr/>
          <p:nvPr/>
        </p:nvSpPr>
        <p:spPr>
          <a:xfrm>
            <a:off x="6682756" y="4743409"/>
            <a:ext cx="3427236" cy="4444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92">
              <a:solidFill>
                <a:prstClr val="white"/>
              </a:solidFill>
            </a:endParaRPr>
          </a:p>
        </p:txBody>
      </p:sp>
      <p:cxnSp>
        <p:nvCxnSpPr>
          <p:cNvPr id="40" name="Conector recto de flecha 39"/>
          <p:cNvCxnSpPr/>
          <p:nvPr/>
        </p:nvCxnSpPr>
        <p:spPr>
          <a:xfrm>
            <a:off x="7267596" y="4289320"/>
            <a:ext cx="0" cy="423602"/>
          </a:xfrm>
          <a:prstGeom prst="straightConnector1">
            <a:avLst/>
          </a:prstGeom>
          <a:ln>
            <a:solidFill>
              <a:schemeClr val="tx1"/>
            </a:solidFill>
            <a:headEnd type="none" w="med" len="med"/>
            <a:tailEnd type="stealth" w="lg" len="lg"/>
          </a:ln>
        </p:spPr>
        <p:style>
          <a:lnRef idx="1">
            <a:schemeClr val="accent1"/>
          </a:lnRef>
          <a:fillRef idx="0">
            <a:schemeClr val="accent1"/>
          </a:fillRef>
          <a:effectRef idx="0">
            <a:schemeClr val="accent1"/>
          </a:effectRef>
          <a:fontRef idx="minor">
            <a:schemeClr val="tx1"/>
          </a:fontRef>
        </p:style>
      </p:cxnSp>
      <p:sp>
        <p:nvSpPr>
          <p:cNvPr id="42" name="CuadroTexto 41"/>
          <p:cNvSpPr txBox="1"/>
          <p:nvPr/>
        </p:nvSpPr>
        <p:spPr>
          <a:xfrm>
            <a:off x="6540591" y="4794851"/>
            <a:ext cx="3618305" cy="369332"/>
          </a:xfrm>
          <a:prstGeom prst="rect">
            <a:avLst/>
          </a:prstGeom>
          <a:noFill/>
        </p:spPr>
        <p:txBody>
          <a:bodyPr wrap="square" rtlCol="0">
            <a:spAutoFit/>
          </a:bodyPr>
          <a:lstStyle/>
          <a:p>
            <a:pPr algn="ctr"/>
            <a:r>
              <a:rPr lang="en-US" dirty="0">
                <a:solidFill>
                  <a:prstClr val="black"/>
                </a:solidFill>
              </a:rPr>
              <a:t> </a:t>
            </a:r>
            <a:r>
              <a:rPr lang="es-ES" dirty="0" smtClean="0">
                <a:solidFill>
                  <a:prstClr val="black"/>
                </a:solidFill>
              </a:rPr>
              <a:t>Homogeneización de PDF</a:t>
            </a:r>
            <a:endParaRPr lang="es-ES" sz="1460" dirty="0">
              <a:solidFill>
                <a:prstClr val="black"/>
              </a:solidFill>
            </a:endParaRPr>
          </a:p>
        </p:txBody>
      </p:sp>
      <p:cxnSp>
        <p:nvCxnSpPr>
          <p:cNvPr id="43" name="Conector recto de flecha 42"/>
          <p:cNvCxnSpPr/>
          <p:nvPr/>
        </p:nvCxnSpPr>
        <p:spPr>
          <a:xfrm>
            <a:off x="7070080" y="5200325"/>
            <a:ext cx="0" cy="423602"/>
          </a:xfrm>
          <a:prstGeom prst="straightConnector1">
            <a:avLst/>
          </a:prstGeom>
          <a:ln>
            <a:solidFill>
              <a:schemeClr val="tx1"/>
            </a:solidFill>
            <a:headEnd type="none" w="med" len="med"/>
            <a:tailEnd type="stealth" w="lg" len="lg"/>
          </a:ln>
        </p:spPr>
        <p:style>
          <a:lnRef idx="1">
            <a:schemeClr val="accent1"/>
          </a:lnRef>
          <a:fillRef idx="0">
            <a:schemeClr val="accent1"/>
          </a:fillRef>
          <a:effectRef idx="0">
            <a:schemeClr val="accent1"/>
          </a:effectRef>
          <a:fontRef idx="minor">
            <a:schemeClr val="tx1"/>
          </a:fontRef>
        </p:style>
      </p:cxnSp>
      <p:cxnSp>
        <p:nvCxnSpPr>
          <p:cNvPr id="44" name="Conector recto de flecha 43"/>
          <p:cNvCxnSpPr/>
          <p:nvPr/>
        </p:nvCxnSpPr>
        <p:spPr>
          <a:xfrm flipV="1">
            <a:off x="6089425" y="4942297"/>
            <a:ext cx="593331" cy="7520"/>
          </a:xfrm>
          <a:prstGeom prst="straightConnector1">
            <a:avLst/>
          </a:prstGeom>
          <a:ln>
            <a:solidFill>
              <a:schemeClr val="tx1"/>
            </a:solidFill>
            <a:headEnd type="none" w="med" len="med"/>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2555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5" y="255945"/>
            <a:ext cx="10515598" cy="1325563"/>
          </a:xfrm>
        </p:spPr>
        <p:txBody>
          <a:bodyPr>
            <a:normAutofit/>
          </a:bodyPr>
          <a:lstStyle/>
          <a:p>
            <a:pPr algn="ctr"/>
            <a:r>
              <a:rPr lang="es-ES" sz="3600" b="1" dirty="0" err="1" smtClean="0">
                <a:solidFill>
                  <a:srgbClr val="A50021"/>
                </a:solidFill>
                <a:latin typeface="Arial" panose="020B0604020202020204" pitchFamily="34" charset="0"/>
                <a:cs typeface="Arial" panose="020B0604020202020204" pitchFamily="34" charset="0"/>
              </a:rPr>
              <a:t>Ensemble</a:t>
            </a:r>
            <a:r>
              <a:rPr lang="es-ES" sz="3600" b="1" dirty="0" smtClean="0">
                <a:solidFill>
                  <a:srgbClr val="A50021"/>
                </a:solidFill>
                <a:latin typeface="Arial" panose="020B0604020202020204" pitchFamily="34" charset="0"/>
                <a:cs typeface="Arial" panose="020B0604020202020204" pitchFamily="34" charset="0"/>
              </a:rPr>
              <a:t> </a:t>
            </a:r>
            <a:r>
              <a:rPr lang="es-ES" sz="3600" b="1" dirty="0" smtClean="0">
                <a:solidFill>
                  <a:srgbClr val="A50021"/>
                </a:solidFill>
                <a:latin typeface="Arial" panose="020B0604020202020204" pitchFamily="34" charset="0"/>
                <a:cs typeface="Arial" panose="020B0604020202020204" pitchFamily="34" charset="0"/>
              </a:rPr>
              <a:t>homogenización</a:t>
            </a:r>
            <a:r>
              <a:rPr lang="es-ES" sz="4000" b="1" dirty="0" smtClean="0">
                <a:solidFill>
                  <a:srgbClr val="A50021"/>
                </a:solidFill>
                <a:latin typeface="Arial" panose="020B0604020202020204" pitchFamily="34" charset="0"/>
                <a:cs typeface="Arial" panose="020B0604020202020204" pitchFamily="34" charset="0"/>
              </a:rPr>
              <a:t/>
            </a:r>
            <a:br>
              <a:rPr lang="es-ES" sz="4000" b="1" dirty="0" smtClean="0">
                <a:solidFill>
                  <a:srgbClr val="A50021"/>
                </a:solidFill>
                <a:latin typeface="Arial" panose="020B0604020202020204" pitchFamily="34" charset="0"/>
                <a:cs typeface="Arial" panose="020B0604020202020204" pitchFamily="34" charset="0"/>
              </a:rPr>
            </a:br>
            <a:r>
              <a:rPr lang="es-ES" sz="4000" b="1" dirty="0" smtClean="0">
                <a:solidFill>
                  <a:srgbClr val="A50021"/>
                </a:solidFill>
                <a:latin typeface="Arial" panose="020B0604020202020204" pitchFamily="34" charset="0"/>
                <a:cs typeface="Arial" panose="020B0604020202020204" pitchFamily="34" charset="0"/>
              </a:rPr>
              <a:t> </a:t>
            </a:r>
            <a:r>
              <a:rPr lang="es-ES" sz="2800" b="1" dirty="0" smtClean="0">
                <a:latin typeface="Arial" panose="020B0604020202020204" pitchFamily="34" charset="0"/>
                <a:cs typeface="Arial" panose="020B0604020202020204" pitchFamily="34" charset="0"/>
              </a:rPr>
              <a:t>con estimación de la amplitud de incertidumbre</a:t>
            </a:r>
            <a:endParaRPr lang="en-US" sz="2800" dirty="0"/>
          </a:p>
        </p:txBody>
      </p:sp>
      <p:pic>
        <p:nvPicPr>
          <p:cNvPr id="5" name="Marcador de contenido 4"/>
          <p:cNvPicPr>
            <a:picLocks noGrp="1" noChangeAspect="1"/>
          </p:cNvPicPr>
          <p:nvPr>
            <p:ph idx="1"/>
          </p:nvPr>
        </p:nvPicPr>
        <p:blipFill>
          <a:blip r:embed="rId2"/>
          <a:stretch>
            <a:fillRect/>
          </a:stretch>
        </p:blipFill>
        <p:spPr>
          <a:xfrm>
            <a:off x="3739487" y="1690690"/>
            <a:ext cx="5308979" cy="5167309"/>
          </a:xfrm>
          <a:prstGeom prst="rect">
            <a:avLst/>
          </a:prstGeom>
        </p:spPr>
      </p:pic>
    </p:spTree>
    <p:extLst>
      <p:ext uri="{BB962C8B-B14F-4D97-AF65-F5344CB8AC3E}">
        <p14:creationId xmlns:p14="http://schemas.microsoft.com/office/powerpoint/2010/main" val="3973921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1" y="247344"/>
            <a:ext cx="10972802" cy="748944"/>
          </a:xfrm>
        </p:spPr>
        <p:txBody>
          <a:bodyPr/>
          <a:lstStyle/>
          <a:p>
            <a:r>
              <a:rPr lang="es-ES" sz="3600" b="1" dirty="0" smtClean="0">
                <a:solidFill>
                  <a:srgbClr val="A50021"/>
                </a:solidFill>
                <a:cs typeface="Times New Roman" panose="02020603050405020304" pitchFamily="18" charset="0"/>
              </a:rPr>
              <a:t>Preparación de datos climáticos</a:t>
            </a:r>
            <a:endParaRPr lang="en-US" sz="3600" dirty="0"/>
          </a:p>
        </p:txBody>
      </p:sp>
      <p:sp>
        <p:nvSpPr>
          <p:cNvPr id="3" name="Marcador de contenido 2"/>
          <p:cNvSpPr>
            <a:spLocks noGrp="1"/>
          </p:cNvSpPr>
          <p:nvPr>
            <p:ph idx="1"/>
          </p:nvPr>
        </p:nvSpPr>
        <p:spPr>
          <a:xfrm>
            <a:off x="609601" y="1163480"/>
            <a:ext cx="10972802" cy="5373798"/>
          </a:xfrm>
        </p:spPr>
        <p:txBody>
          <a:bodyPr/>
          <a:lstStyle/>
          <a:p>
            <a:r>
              <a:rPr lang="es-ES" sz="2200" dirty="0" smtClean="0">
                <a:solidFill>
                  <a:schemeClr val="accent2">
                    <a:lumMod val="50000"/>
                  </a:schemeClr>
                </a:solidFill>
              </a:rPr>
              <a:t>Se debe seguir estrictamente las reglas</a:t>
            </a:r>
          </a:p>
          <a:p>
            <a:r>
              <a:rPr lang="es-ES" sz="2200" dirty="0" smtClean="0"/>
              <a:t>Todos los ficheros tienen extensión “.</a:t>
            </a:r>
            <a:r>
              <a:rPr lang="es-ES" sz="2200" dirty="0" err="1" smtClean="0"/>
              <a:t>txt</a:t>
            </a:r>
            <a:r>
              <a:rPr lang="es-ES" sz="2200" dirty="0" smtClean="0"/>
              <a:t>”, y ponemos los al directorio Input.</a:t>
            </a:r>
          </a:p>
          <a:p>
            <a:r>
              <a:rPr lang="es-ES" sz="2200" dirty="0"/>
              <a:t>C</a:t>
            </a:r>
            <a:r>
              <a:rPr lang="es-ES" sz="2200" dirty="0" smtClean="0"/>
              <a:t>ada serie de datos climáticos tiene un propio fichero. El nombre de un fichero de datos climáticos incluye el nombre de dato base (de 5 caracteres, común para todas las series), y el número de orden de la serie. El orden de series es arbitrario. En caso de datos diarios, el nombre de fichero aun incluye ‘d’ después del numero de orden, p. ej. Blanc0292d.txt incluye los datos diarios de 292° serie de dato base </a:t>
            </a:r>
            <a:r>
              <a:rPr lang="es-ES" sz="2200" dirty="0" err="1" smtClean="0"/>
              <a:t>Blanc</a:t>
            </a:r>
            <a:r>
              <a:rPr lang="es-ES" sz="2200" dirty="0" smtClean="0"/>
              <a:t>. </a:t>
            </a:r>
            <a:r>
              <a:rPr lang="es-ES" sz="2200" dirty="0" smtClean="0">
                <a:solidFill>
                  <a:schemeClr val="accent2">
                    <a:lumMod val="50000"/>
                  </a:schemeClr>
                </a:solidFill>
              </a:rPr>
              <a:t>En la primera fila se debe poner un identificador de estación</a:t>
            </a:r>
          </a:p>
          <a:p>
            <a:r>
              <a:rPr lang="es-ES" sz="2200" dirty="0" smtClean="0"/>
              <a:t>Desde la segunda fila cada fila incluye los datos de un año en caso de datos mensuales, y los datos de un mes en caso de datos diarios</a:t>
            </a:r>
          </a:p>
          <a:p>
            <a:r>
              <a:rPr lang="es-ES" sz="2200" dirty="0" smtClean="0"/>
              <a:t>Los decimales están separados con punto.</a:t>
            </a:r>
          </a:p>
          <a:p>
            <a:r>
              <a:rPr lang="es-ES" sz="2200" dirty="0" smtClean="0"/>
              <a:t>Dato </a:t>
            </a:r>
            <a:r>
              <a:rPr lang="es-ES" sz="2200" dirty="0" smtClean="0"/>
              <a:t>ausencias están indicados con –999.9.</a:t>
            </a:r>
          </a:p>
          <a:p>
            <a:r>
              <a:rPr lang="es-ES" sz="2200" dirty="0" smtClean="0"/>
              <a:t>Las series deben incluir años enteros (desde 01 enero hasta 31 diciembre)</a:t>
            </a:r>
          </a:p>
          <a:p>
            <a:r>
              <a:rPr lang="es-ES" sz="2200" dirty="0" smtClean="0"/>
              <a:t>Las series deben ser continuos (sin saltar fechas) </a:t>
            </a:r>
          </a:p>
          <a:p>
            <a:endParaRPr lang="en-US" sz="2200" dirty="0"/>
          </a:p>
        </p:txBody>
      </p:sp>
    </p:spTree>
    <p:extLst>
      <p:ext uri="{BB962C8B-B14F-4D97-AF65-F5344CB8AC3E}">
        <p14:creationId xmlns:p14="http://schemas.microsoft.com/office/powerpoint/2010/main" val="26202471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1" y="165456"/>
            <a:ext cx="10972802" cy="1090138"/>
          </a:xfrm>
        </p:spPr>
        <p:txBody>
          <a:bodyPr/>
          <a:lstStyle/>
          <a:p>
            <a:r>
              <a:rPr lang="es-ES" sz="3600" b="1" dirty="0" err="1" smtClean="0">
                <a:solidFill>
                  <a:srgbClr val="A50021"/>
                </a:solidFill>
                <a:cs typeface="Times New Roman" panose="02020603050405020304" pitchFamily="18" charset="0"/>
              </a:rPr>
              <a:t>Items</a:t>
            </a:r>
            <a:r>
              <a:rPr lang="es-ES" sz="3600" b="1" dirty="0" smtClean="0">
                <a:solidFill>
                  <a:srgbClr val="A50021"/>
                </a:solidFill>
                <a:cs typeface="Times New Roman" panose="02020603050405020304" pitchFamily="18" charset="0"/>
              </a:rPr>
              <a:t> opcionales del input</a:t>
            </a:r>
            <a:endParaRPr lang="en-US" sz="3600" dirty="0"/>
          </a:p>
        </p:txBody>
      </p:sp>
      <p:sp>
        <p:nvSpPr>
          <p:cNvPr id="3" name="Marcador de contenido 2"/>
          <p:cNvSpPr>
            <a:spLocks noGrp="1"/>
          </p:cNvSpPr>
          <p:nvPr>
            <p:ph idx="1"/>
          </p:nvPr>
        </p:nvSpPr>
        <p:spPr>
          <a:xfrm>
            <a:off x="609601" y="1545617"/>
            <a:ext cx="10972802" cy="4950718"/>
          </a:xfrm>
        </p:spPr>
        <p:txBody>
          <a:bodyPr/>
          <a:lstStyle/>
          <a:p>
            <a:r>
              <a:rPr lang="es-ES" sz="2400" dirty="0" smtClean="0"/>
              <a:t>Blancmeta.txt – lista de metadatos</a:t>
            </a:r>
          </a:p>
          <a:p>
            <a:r>
              <a:rPr lang="es-ES" sz="2400" dirty="0" smtClean="0"/>
              <a:t>Thresholds.txt – rango de valores climáticamente aceptables</a:t>
            </a:r>
          </a:p>
          <a:p>
            <a:r>
              <a:rPr lang="es-ES" sz="2400" dirty="0" smtClean="0"/>
              <a:t>Rth.txt – límite para las correlaciones espaciales</a:t>
            </a:r>
          </a:p>
          <a:p>
            <a:r>
              <a:rPr lang="es-ES" sz="2400" dirty="0" smtClean="0"/>
              <a:t>Blanctarget-homg.txt – grupo de series que queremos homogeneizar (sin este fichero: todas las series)</a:t>
            </a:r>
          </a:p>
          <a:p>
            <a:r>
              <a:rPr lang="es-ES" sz="2400" dirty="0" smtClean="0"/>
              <a:t>Blanctarget-pdfh.txt – grupo de series que sometidas a la homogeneización de distribución probabilística (sin este fichero: todas las series. Solo para homogeneización diaria.)</a:t>
            </a:r>
          </a:p>
          <a:p>
            <a:r>
              <a:rPr lang="es-ES" sz="2400" dirty="0" smtClean="0"/>
              <a:t>Blancedit.txt – grupo de series que queremos homogeneizar en el modo interactivo (para homogeneización interactiva esta fichero es obligatorio)</a:t>
            </a:r>
          </a:p>
          <a:p>
            <a:r>
              <a:rPr lang="es-ES" sz="2200" dirty="0" smtClean="0"/>
              <a:t>Nota: no es necesario incluir una serie en “*target-homg.txt”, si está incluido en la lista de “*target-pdfh.txt” o la de “*edit.txt”.    </a:t>
            </a:r>
            <a:endParaRPr lang="en-US" sz="2200" dirty="0"/>
          </a:p>
        </p:txBody>
      </p:sp>
    </p:spTree>
    <p:extLst>
      <p:ext uri="{BB962C8B-B14F-4D97-AF65-F5344CB8AC3E}">
        <p14:creationId xmlns:p14="http://schemas.microsoft.com/office/powerpoint/2010/main" val="1346356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1" y="274638"/>
            <a:ext cx="10972802" cy="967308"/>
          </a:xfrm>
        </p:spPr>
        <p:txBody>
          <a:bodyPr/>
          <a:lstStyle/>
          <a:p>
            <a:r>
              <a:rPr lang="es-ES" sz="3600" b="1" dirty="0" smtClean="0">
                <a:solidFill>
                  <a:srgbClr val="A50021"/>
                </a:solidFill>
                <a:cs typeface="Times New Roman" panose="02020603050405020304" pitchFamily="18" charset="0"/>
              </a:rPr>
              <a:t>Contenido del output estándar</a:t>
            </a:r>
            <a:endParaRPr lang="en-US" sz="3600" dirty="0"/>
          </a:p>
        </p:txBody>
      </p:sp>
      <p:sp>
        <p:nvSpPr>
          <p:cNvPr id="3" name="Marcador de contenido 2"/>
          <p:cNvSpPr>
            <a:spLocks noGrp="1"/>
          </p:cNvSpPr>
          <p:nvPr>
            <p:ph idx="1"/>
          </p:nvPr>
        </p:nvSpPr>
        <p:spPr>
          <a:xfrm>
            <a:off x="609601" y="1436435"/>
            <a:ext cx="10972802" cy="4525963"/>
          </a:xfrm>
        </p:spPr>
        <p:txBody>
          <a:bodyPr/>
          <a:lstStyle/>
          <a:p>
            <a:r>
              <a:rPr lang="es-ES" sz="2200" dirty="0" smtClean="0"/>
              <a:t>Las series de datos homogeneizados tienen el mismo formato que las del input, excepto que el forma del nombre del fichero es </a:t>
            </a:r>
            <a:r>
              <a:rPr lang="es-ES" sz="2200" dirty="0"/>
              <a:t>“</a:t>
            </a:r>
            <a:r>
              <a:rPr lang="es-ES" sz="2200" dirty="0" smtClean="0"/>
              <a:t>Blanc0292t.txt</a:t>
            </a:r>
            <a:r>
              <a:rPr lang="es-ES" sz="2200" dirty="0"/>
              <a:t>” </a:t>
            </a:r>
            <a:r>
              <a:rPr lang="es-ES" sz="2200" dirty="0" smtClean="0"/>
              <a:t>para </a:t>
            </a:r>
            <a:r>
              <a:rPr lang="es-ES" sz="2200" dirty="0"/>
              <a:t>datos </a:t>
            </a:r>
            <a:r>
              <a:rPr lang="es-ES" sz="2200" dirty="0" smtClean="0"/>
              <a:t>mensuales y “Blanc0292v.txt” para datos diarios, además el largo de serie está ajustado en cada serie al periodo definido por el usuario Las dato lagunas están rellenados dentro del periodo homogeneizado.</a:t>
            </a:r>
          </a:p>
          <a:p>
            <a:r>
              <a:rPr lang="es-ES" sz="2200" dirty="0" smtClean="0"/>
              <a:t>Blanc_breaks.txt – lista de saltos detectados y valores atípicos detectados para cada estación. Una </a:t>
            </a:r>
            <a:r>
              <a:rPr lang="es-ES" sz="2200" dirty="0" err="1"/>
              <a:t>i</a:t>
            </a:r>
            <a:r>
              <a:rPr lang="es-ES" sz="2200" dirty="0" err="1" smtClean="0"/>
              <a:t>nhomogeneidad</a:t>
            </a:r>
            <a:r>
              <a:rPr lang="es-ES" sz="2200" dirty="0" smtClean="0"/>
              <a:t> de &lt; 5 mes duración está considerado como una serie de valores atípicos. Este fichero incluye aún el periodo homogeneizado para cada serie, y un periodo (posiblemente más largo) en que ACMANT encontró datos observados usables. Si una serie no tiene periodo homogeneizado, el código de saltos detectados es –1.</a:t>
            </a:r>
          </a:p>
          <a:p>
            <a:r>
              <a:rPr lang="es-ES" sz="2200" dirty="0" smtClean="0"/>
              <a:t>Blanc_rlist.txt – Lista de series vecinales usadas para cada series candidata, y las correlaciones espaciales entre las series que homogeneizadas junto. </a:t>
            </a:r>
            <a:endParaRPr lang="en-US" sz="2200" dirty="0"/>
          </a:p>
        </p:txBody>
      </p:sp>
    </p:spTree>
    <p:extLst>
      <p:ext uri="{BB962C8B-B14F-4D97-AF65-F5344CB8AC3E}">
        <p14:creationId xmlns:p14="http://schemas.microsoft.com/office/powerpoint/2010/main" val="7838811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n-US" dirty="0">
                <a:solidFill>
                  <a:schemeClr val="accent2">
                    <a:lumMod val="50000"/>
                  </a:schemeClr>
                </a:solidFill>
              </a:rPr>
              <a:t>https://</a:t>
            </a:r>
            <a:r>
              <a:rPr lang="en-US" dirty="0" smtClean="0">
                <a:solidFill>
                  <a:schemeClr val="accent2">
                    <a:lumMod val="50000"/>
                  </a:schemeClr>
                </a:solidFill>
              </a:rPr>
              <a:t>github.com/dpeterfree/ACMANT/tree/ACMANTv6</a:t>
            </a:r>
            <a:endParaRPr lang="en-US" dirty="0">
              <a:solidFill>
                <a:schemeClr val="accent2">
                  <a:lumMod val="50000"/>
                </a:schemeClr>
              </a:solidFill>
            </a:endParaRPr>
          </a:p>
        </p:txBody>
      </p:sp>
      <p:sp>
        <p:nvSpPr>
          <p:cNvPr id="3" name="Subtítulo 2"/>
          <p:cNvSpPr>
            <a:spLocks noGrp="1"/>
          </p:cNvSpPr>
          <p:nvPr>
            <p:ph type="subTitle" idx="1"/>
          </p:nvPr>
        </p:nvSpPr>
        <p:spPr/>
        <p:txBody>
          <a:bodyPr/>
          <a:lstStyle/>
          <a:p>
            <a:r>
              <a:rPr lang="es-ES" dirty="0" smtClean="0"/>
              <a:t> </a:t>
            </a:r>
            <a:endParaRPr lang="en-US" dirty="0"/>
          </a:p>
        </p:txBody>
      </p:sp>
    </p:spTree>
    <p:extLst>
      <p:ext uri="{BB962C8B-B14F-4D97-AF65-F5344CB8AC3E}">
        <p14:creationId xmlns:p14="http://schemas.microsoft.com/office/powerpoint/2010/main" val="28512077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z="3600" b="1" dirty="0" err="1" smtClean="0">
                <a:solidFill>
                  <a:srgbClr val="A50021"/>
                </a:solidFill>
                <a:cs typeface="Times New Roman" panose="02020603050405020304" pitchFamily="18" charset="0"/>
              </a:rPr>
              <a:t>Items</a:t>
            </a:r>
            <a:r>
              <a:rPr lang="es-ES" sz="3600" b="1" dirty="0" smtClean="0">
                <a:solidFill>
                  <a:srgbClr val="A50021"/>
                </a:solidFill>
                <a:cs typeface="Times New Roman" panose="02020603050405020304" pitchFamily="18" charset="0"/>
              </a:rPr>
              <a:t> </a:t>
            </a:r>
            <a:r>
              <a:rPr lang="es-ES" sz="3600" b="1" dirty="0">
                <a:solidFill>
                  <a:srgbClr val="A50021"/>
                </a:solidFill>
                <a:cs typeface="Times New Roman" panose="02020603050405020304" pitchFamily="18" charset="0"/>
              </a:rPr>
              <a:t>opcionales del </a:t>
            </a:r>
            <a:r>
              <a:rPr lang="es-ES" sz="3600" b="1" dirty="0" smtClean="0">
                <a:solidFill>
                  <a:srgbClr val="A50021"/>
                </a:solidFill>
                <a:cs typeface="Times New Roman" panose="02020603050405020304" pitchFamily="18" charset="0"/>
              </a:rPr>
              <a:t>output</a:t>
            </a:r>
            <a:endParaRPr lang="en-US" sz="3600" dirty="0"/>
          </a:p>
        </p:txBody>
      </p:sp>
      <p:sp>
        <p:nvSpPr>
          <p:cNvPr id="3" name="Marcador de contenido 2"/>
          <p:cNvSpPr>
            <a:spLocks noGrp="1"/>
          </p:cNvSpPr>
          <p:nvPr>
            <p:ph idx="1"/>
          </p:nvPr>
        </p:nvSpPr>
        <p:spPr>
          <a:xfrm>
            <a:off x="609601" y="1654799"/>
            <a:ext cx="10972802" cy="4525963"/>
          </a:xfrm>
        </p:spPr>
        <p:txBody>
          <a:bodyPr/>
          <a:lstStyle/>
          <a:p>
            <a:r>
              <a:rPr lang="es-ES" sz="2200" dirty="0" smtClean="0"/>
              <a:t>Blanc0292s.txt – Series mensuales sin relleno de dato lagunas</a:t>
            </a:r>
          </a:p>
          <a:p>
            <a:r>
              <a:rPr lang="es-ES" sz="2200" dirty="0" smtClean="0"/>
              <a:t>Blanc0292h.txt – Series mensuales completadas al periodo dado por el usuario</a:t>
            </a:r>
          </a:p>
          <a:p>
            <a:r>
              <a:rPr lang="es-ES" sz="2200" dirty="0" smtClean="0"/>
              <a:t>Blanc0292u.txt – Series diarias sin relleno de dato lagunas</a:t>
            </a:r>
          </a:p>
          <a:p>
            <a:r>
              <a:rPr lang="es-ES" sz="2200" dirty="0" smtClean="0"/>
              <a:t>Blanc0292g.txt – Series diarias completadas al periodo dado por el usuario</a:t>
            </a:r>
          </a:p>
          <a:p>
            <a:r>
              <a:rPr lang="es-ES" sz="2200" dirty="0" smtClean="0"/>
              <a:t>Blanc0292j.txt – Series mensuales de fiabilidad indicadores</a:t>
            </a:r>
          </a:p>
          <a:p>
            <a:r>
              <a:rPr lang="es-ES" sz="2200" dirty="0" smtClean="0"/>
              <a:t>Blanc0292i.txt – Series diarias de fiabilidad indicadores</a:t>
            </a:r>
          </a:p>
          <a:p>
            <a:r>
              <a:rPr lang="es-ES" sz="2200" dirty="0" smtClean="0"/>
              <a:t>Los ficheros de fiabilidad indicadores tienen el mismo formato que los de datos climáticos, salvo que los fiabilidad indicadores son números enteros de 0…9.</a:t>
            </a:r>
          </a:p>
          <a:p>
            <a:r>
              <a:rPr lang="es-ES" sz="2200" dirty="0" smtClean="0"/>
              <a:t>La fiabilidad es más alta para códigos bajos, salvo 0. (Tabla de códigos en el Manual) </a:t>
            </a:r>
            <a:endParaRPr lang="en-US" sz="2200" dirty="0"/>
          </a:p>
        </p:txBody>
      </p:sp>
    </p:spTree>
    <p:extLst>
      <p:ext uri="{BB962C8B-B14F-4D97-AF65-F5344CB8AC3E}">
        <p14:creationId xmlns:p14="http://schemas.microsoft.com/office/powerpoint/2010/main" val="10426204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z="3600" b="1" dirty="0" smtClean="0">
                <a:solidFill>
                  <a:srgbClr val="A50021"/>
                </a:solidFill>
                <a:cs typeface="Times New Roman" panose="02020603050405020304" pitchFamily="18" charset="0"/>
              </a:rPr>
              <a:t>Relleno de dato lagunas por ACMANT</a:t>
            </a:r>
            <a:endParaRPr lang="en-US" sz="3600" dirty="0"/>
          </a:p>
        </p:txBody>
      </p:sp>
      <p:sp>
        <p:nvSpPr>
          <p:cNvPr id="3" name="Marcador de contenido 2"/>
          <p:cNvSpPr>
            <a:spLocks noGrp="1"/>
          </p:cNvSpPr>
          <p:nvPr>
            <p:ph idx="1"/>
          </p:nvPr>
        </p:nvSpPr>
        <p:spPr>
          <a:xfrm>
            <a:off x="609601" y="1600208"/>
            <a:ext cx="10972802" cy="4525963"/>
          </a:xfrm>
        </p:spPr>
        <p:txBody>
          <a:bodyPr/>
          <a:lstStyle/>
          <a:p>
            <a:r>
              <a:rPr lang="es-ES" sz="2400" dirty="0" smtClean="0"/>
              <a:t>Usuario decide si quiere series completadas o sin relleno de dato lagunas</a:t>
            </a:r>
          </a:p>
          <a:p>
            <a:r>
              <a:rPr lang="es-ES" sz="2400" dirty="0" smtClean="0"/>
              <a:t>No obstante: ACMANT siempre usa valores interpolados en lugares de dato ausencias interiores</a:t>
            </a:r>
          </a:p>
          <a:p>
            <a:r>
              <a:rPr lang="es-ES" sz="2400" dirty="0" smtClean="0"/>
              <a:t>No se debe rellenar dato lagunas antes de correr ACMANT, posible excepción: múltiple factor interpolación (involucrando unas cuantas variables climáticas). Esta regla es porque ACMANT necesita distinguir los datos observados desde los datos interpolados.</a:t>
            </a:r>
          </a:p>
          <a:p>
            <a:r>
              <a:rPr lang="es-ES" sz="2400" dirty="0" smtClean="0"/>
              <a:t>ACMANT rellena dato lagunas con interpolación espacial. En la interpolación final ACMANT usa datos homogeneizados.</a:t>
            </a:r>
          </a:p>
          <a:p>
            <a:r>
              <a:rPr lang="es-ES" sz="2400" dirty="0" smtClean="0"/>
              <a:t>En el output por defecto, solo los dato lagunas del periodo homogeneizado están rellenados. </a:t>
            </a:r>
            <a:endParaRPr lang="en-US" sz="2400" dirty="0"/>
          </a:p>
        </p:txBody>
      </p:sp>
    </p:spTree>
    <p:extLst>
      <p:ext uri="{BB962C8B-B14F-4D97-AF65-F5344CB8AC3E}">
        <p14:creationId xmlns:p14="http://schemas.microsoft.com/office/powerpoint/2010/main" val="36457878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95956" y="165456"/>
            <a:ext cx="10972802" cy="822642"/>
          </a:xfrm>
        </p:spPr>
        <p:txBody>
          <a:bodyPr/>
          <a:lstStyle/>
          <a:p>
            <a:r>
              <a:rPr lang="es-ES" sz="3600" b="1" dirty="0" smtClean="0">
                <a:solidFill>
                  <a:srgbClr val="A50021"/>
                </a:solidFill>
                <a:cs typeface="Times New Roman" panose="02020603050405020304" pitchFamily="18" charset="0"/>
              </a:rPr>
              <a:t>Uso de metadatos en modo automático</a:t>
            </a:r>
            <a:endParaRPr lang="en-US" sz="3600" dirty="0"/>
          </a:p>
        </p:txBody>
      </p:sp>
      <p:sp>
        <p:nvSpPr>
          <p:cNvPr id="3" name="Marcador de contenido 2"/>
          <p:cNvSpPr>
            <a:spLocks noGrp="1"/>
          </p:cNvSpPr>
          <p:nvPr>
            <p:ph idx="1"/>
          </p:nvPr>
        </p:nvSpPr>
        <p:spPr>
          <a:xfrm>
            <a:off x="595956" y="1238648"/>
            <a:ext cx="10972802" cy="5096013"/>
          </a:xfrm>
        </p:spPr>
        <p:txBody>
          <a:bodyPr/>
          <a:lstStyle/>
          <a:p>
            <a:r>
              <a:rPr lang="es-ES" sz="2400" dirty="0" smtClean="0"/>
              <a:t>La importancia de metadatos que pertenezcan a estaciones individuales crece con la decrecimiento del número de estaciones comparables espacialmente. </a:t>
            </a:r>
          </a:p>
          <a:p>
            <a:r>
              <a:rPr lang="es-ES" sz="2400" dirty="0" smtClean="0"/>
              <a:t>Se debe poner una lista de metadatos en un solo fichero al directorio Input. Se usa tan metadato-lista ambos en modo automático y modo interactivo.</a:t>
            </a:r>
          </a:p>
          <a:p>
            <a:r>
              <a:rPr lang="es-ES" sz="2400" dirty="0" smtClean="0"/>
              <a:t>Los primeros 5 caracteres del fichero son el nombre de dato base, y esto completado con “meta.txt”.</a:t>
            </a:r>
          </a:p>
          <a:p>
            <a:pPr marL="0" indent="0">
              <a:buNone/>
            </a:pPr>
            <a:r>
              <a:rPr lang="es-ES" sz="2000" dirty="0" smtClean="0"/>
              <a:t>  </a:t>
            </a:r>
            <a:endParaRPr lang="en-US" sz="2000" dirty="0"/>
          </a:p>
        </p:txBody>
      </p:sp>
    </p:spTree>
    <p:extLst>
      <p:ext uri="{BB962C8B-B14F-4D97-AF65-F5344CB8AC3E}">
        <p14:creationId xmlns:p14="http://schemas.microsoft.com/office/powerpoint/2010/main" val="34433539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95956" y="165456"/>
            <a:ext cx="10972802" cy="822642"/>
          </a:xfrm>
        </p:spPr>
        <p:txBody>
          <a:bodyPr/>
          <a:lstStyle/>
          <a:p>
            <a:r>
              <a:rPr lang="es-ES" sz="3600" b="1" dirty="0" smtClean="0">
                <a:solidFill>
                  <a:srgbClr val="A50021"/>
                </a:solidFill>
                <a:cs typeface="Times New Roman" panose="02020603050405020304" pitchFamily="18" charset="0"/>
              </a:rPr>
              <a:t>Uso de metadatos en modo automático</a:t>
            </a:r>
            <a:endParaRPr lang="en-US" sz="3600" dirty="0"/>
          </a:p>
        </p:txBody>
      </p:sp>
      <p:sp>
        <p:nvSpPr>
          <p:cNvPr id="3" name="Marcador de contenido 2"/>
          <p:cNvSpPr>
            <a:spLocks noGrp="1"/>
          </p:cNvSpPr>
          <p:nvPr>
            <p:ph idx="1"/>
          </p:nvPr>
        </p:nvSpPr>
        <p:spPr>
          <a:xfrm>
            <a:off x="595956" y="1238648"/>
            <a:ext cx="10972802" cy="5096013"/>
          </a:xfrm>
        </p:spPr>
        <p:txBody>
          <a:bodyPr/>
          <a:lstStyle/>
          <a:p>
            <a:r>
              <a:rPr lang="es-ES" sz="2400" dirty="0" smtClean="0"/>
              <a:t>Cada fila del fichero incluye una fecha de un evento, más concretamente (a) el número de orden de estación, (b) el día, el mes y el año del evento, en este orden</a:t>
            </a:r>
          </a:p>
          <a:p>
            <a:r>
              <a:rPr lang="es-ES" sz="2400" dirty="0" smtClean="0"/>
              <a:t>El orden de eventos (filas) es totalmente indiferente.</a:t>
            </a:r>
          </a:p>
          <a:p>
            <a:r>
              <a:rPr lang="es-ES" sz="2400" dirty="0" smtClean="0"/>
              <a:t>El número de filas es prácticamente ilimitado, pero solo eventos que resulten </a:t>
            </a:r>
            <a:r>
              <a:rPr lang="es-ES" sz="2400" dirty="0" err="1" smtClean="0"/>
              <a:t>inhomogeneidad</a:t>
            </a:r>
            <a:r>
              <a:rPr lang="es-ES" sz="2400" dirty="0" smtClean="0"/>
              <a:t> con &gt;50% probabilidad deben ser incluidos. Es recomendado limitar la frecuencia de metadatos usados.</a:t>
            </a:r>
          </a:p>
          <a:p>
            <a:r>
              <a:rPr lang="es-ES" sz="2400" dirty="0" smtClean="0"/>
              <a:t>Saltos coincidentes en &gt;40% de estaciones: control y/o intervención de usuario es recomendado.</a:t>
            </a:r>
          </a:p>
          <a:p>
            <a:r>
              <a:rPr lang="es-ES" sz="2400" dirty="0" smtClean="0"/>
              <a:t>Saltos coincidentes en 100% de estaciones: no se usa sus metadatos en modo automático   </a:t>
            </a:r>
            <a:endParaRPr lang="en-US" sz="2400" dirty="0"/>
          </a:p>
        </p:txBody>
      </p:sp>
    </p:spTree>
    <p:extLst>
      <p:ext uri="{BB962C8B-B14F-4D97-AF65-F5344CB8AC3E}">
        <p14:creationId xmlns:p14="http://schemas.microsoft.com/office/powerpoint/2010/main" val="40792075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1" y="274639"/>
            <a:ext cx="10972802" cy="776240"/>
          </a:xfrm>
        </p:spPr>
        <p:txBody>
          <a:bodyPr/>
          <a:lstStyle/>
          <a:p>
            <a:r>
              <a:rPr lang="es-ES" sz="3600" b="1" dirty="0" smtClean="0">
                <a:solidFill>
                  <a:srgbClr val="A50021"/>
                </a:solidFill>
                <a:cs typeface="Times New Roman" panose="02020603050405020304" pitchFamily="18" charset="0"/>
              </a:rPr>
              <a:t>Irregularidades en el input dato base</a:t>
            </a:r>
            <a:endParaRPr lang="en-US" sz="3600" dirty="0"/>
          </a:p>
        </p:txBody>
      </p:sp>
      <p:sp>
        <p:nvSpPr>
          <p:cNvPr id="3" name="Marcador de contenido 2"/>
          <p:cNvSpPr>
            <a:spLocks noGrp="1"/>
          </p:cNvSpPr>
          <p:nvPr>
            <p:ph idx="1"/>
          </p:nvPr>
        </p:nvSpPr>
        <p:spPr>
          <a:xfrm>
            <a:off x="609601" y="1313605"/>
            <a:ext cx="10972802" cy="4950717"/>
          </a:xfrm>
        </p:spPr>
        <p:txBody>
          <a:bodyPr/>
          <a:lstStyle/>
          <a:p>
            <a:r>
              <a:rPr lang="es-ES" sz="2200" dirty="0" smtClean="0">
                <a:solidFill>
                  <a:srgbClr val="00B050"/>
                </a:solidFill>
              </a:rPr>
              <a:t>Serie sin periodo homogeneizado</a:t>
            </a:r>
            <a:r>
              <a:rPr lang="es-ES" sz="2200" dirty="0" smtClean="0"/>
              <a:t>: Los valores de output serán idénticos con los de input. Dato lagunas se quedan sin relleno. No afecta la homogeneización de otras series. “Control message.txt” notifica el incidente.</a:t>
            </a:r>
          </a:p>
          <a:p>
            <a:r>
              <a:rPr lang="es-ES" sz="2200" dirty="0" smtClean="0">
                <a:solidFill>
                  <a:srgbClr val="00B050"/>
                </a:solidFill>
              </a:rPr>
              <a:t>Network sin serie homogeneizada</a:t>
            </a:r>
            <a:r>
              <a:rPr lang="es-ES" sz="2200" dirty="0" smtClean="0"/>
              <a:t>: Todo el output contiene los mismos valores que el input. </a:t>
            </a:r>
            <a:r>
              <a:rPr lang="es-ES" sz="2200" dirty="0"/>
              <a:t>“Control message.txt” </a:t>
            </a:r>
            <a:r>
              <a:rPr lang="es-ES" sz="2200" dirty="0" smtClean="0"/>
              <a:t>notifica </a:t>
            </a:r>
            <a:r>
              <a:rPr lang="es-ES" sz="2200" dirty="0"/>
              <a:t>el </a:t>
            </a:r>
            <a:r>
              <a:rPr lang="es-ES" sz="2200" dirty="0" smtClean="0"/>
              <a:t>incidente, y el programa de ACMANT seguirá con la homogeneización del </a:t>
            </a:r>
            <a:r>
              <a:rPr lang="es-ES" sz="2200" dirty="0" err="1" smtClean="0"/>
              <a:t>network</a:t>
            </a:r>
            <a:r>
              <a:rPr lang="es-ES" sz="2200" dirty="0" smtClean="0"/>
              <a:t> siguiente (si hay más </a:t>
            </a:r>
            <a:r>
              <a:rPr lang="es-ES" sz="2200" dirty="0" err="1" smtClean="0"/>
              <a:t>networkes</a:t>
            </a:r>
            <a:r>
              <a:rPr lang="es-ES" sz="2200" dirty="0" smtClean="0"/>
              <a:t>).</a:t>
            </a:r>
          </a:p>
          <a:p>
            <a:r>
              <a:rPr lang="es-ES" sz="2200" dirty="0" smtClean="0">
                <a:solidFill>
                  <a:srgbClr val="00B050"/>
                </a:solidFill>
              </a:rPr>
              <a:t>Error en el formato de input</a:t>
            </a:r>
            <a:r>
              <a:rPr lang="es-ES" sz="2200" dirty="0" smtClean="0"/>
              <a:t>: ACMANT deniega a correr. Se encuentra un error mensaje en el directorio Works.</a:t>
            </a:r>
          </a:p>
          <a:p>
            <a:r>
              <a:rPr lang="es-ES" sz="2200" dirty="0" smtClean="0">
                <a:solidFill>
                  <a:srgbClr val="00B050"/>
                </a:solidFill>
              </a:rPr>
              <a:t>Hay dos periodos separados de la misma serie que ACMANT podría homogeneizar</a:t>
            </a:r>
            <a:r>
              <a:rPr lang="es-ES" sz="2200" dirty="0" smtClean="0"/>
              <a:t>: ACMANT homogeneiza solo el último de estos periodos independientemente de los largos de periodos. </a:t>
            </a:r>
            <a:r>
              <a:rPr lang="es-ES" sz="2200" dirty="0"/>
              <a:t>“Control message.txt” </a:t>
            </a:r>
            <a:r>
              <a:rPr lang="es-ES" sz="2200" dirty="0" smtClean="0"/>
              <a:t>notifica </a:t>
            </a:r>
            <a:r>
              <a:rPr lang="es-ES" sz="2200" dirty="0"/>
              <a:t>el </a:t>
            </a:r>
            <a:r>
              <a:rPr lang="es-ES" sz="2200" dirty="0" smtClean="0"/>
              <a:t>incidente.</a:t>
            </a:r>
          </a:p>
          <a:p>
            <a:endParaRPr lang="es-ES" sz="1200" dirty="0" smtClean="0"/>
          </a:p>
          <a:p>
            <a:r>
              <a:rPr lang="es-ES" sz="2200" dirty="0" smtClean="0">
                <a:solidFill>
                  <a:srgbClr val="00B050"/>
                </a:solidFill>
              </a:rPr>
              <a:t>Posibilidad de borrar una serie </a:t>
            </a:r>
            <a:r>
              <a:rPr lang="es-ES" sz="2200" dirty="0" smtClean="0"/>
              <a:t>sin renumerar los ficheros: Borra todo el contenido de la serie salvo su primera fila (indicador de estación).  </a:t>
            </a:r>
            <a:endParaRPr lang="en-US" sz="2200" dirty="0"/>
          </a:p>
        </p:txBody>
      </p:sp>
    </p:spTree>
    <p:extLst>
      <p:ext uri="{BB962C8B-B14F-4D97-AF65-F5344CB8AC3E}">
        <p14:creationId xmlns:p14="http://schemas.microsoft.com/office/powerpoint/2010/main" val="15831820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z="3600" b="1" dirty="0" smtClean="0">
                <a:solidFill>
                  <a:srgbClr val="A50021"/>
                </a:solidFill>
                <a:cs typeface="Times New Roman" panose="02020603050405020304" pitchFamily="18" charset="0"/>
              </a:rPr>
              <a:t>Preparación de series: unir o cortar?</a:t>
            </a:r>
            <a:endParaRPr lang="en-US" sz="3600" dirty="0"/>
          </a:p>
        </p:txBody>
      </p:sp>
      <p:sp>
        <p:nvSpPr>
          <p:cNvPr id="3" name="Marcador de contenido 2"/>
          <p:cNvSpPr>
            <a:spLocks noGrp="1"/>
          </p:cNvSpPr>
          <p:nvPr>
            <p:ph idx="1"/>
          </p:nvPr>
        </p:nvSpPr>
        <p:spPr>
          <a:xfrm>
            <a:off x="609601" y="1545617"/>
            <a:ext cx="10972802" cy="4691410"/>
          </a:xfrm>
        </p:spPr>
        <p:txBody>
          <a:bodyPr/>
          <a:lstStyle/>
          <a:p>
            <a:r>
              <a:rPr lang="es-ES" sz="2400" dirty="0" smtClean="0"/>
              <a:t>Tratamos series de datos observados en sitios cercanos pero no en un solo sitio fijado y permanente.</a:t>
            </a:r>
          </a:p>
          <a:p>
            <a:r>
              <a:rPr lang="es-ES" sz="2400" dirty="0" smtClean="0"/>
              <a:t>OMM da recomendaciones cuando se puede unir series de observaciones cercanas. No obstante, podemos aplicar limites diferentes desde las recomendaciones generales, si una tarea concreta sugiere beneficios desde la unificación (</a:t>
            </a:r>
            <a:r>
              <a:rPr lang="es-ES" sz="2400" dirty="0" smtClean="0">
                <a:solidFill>
                  <a:schemeClr val="accent2">
                    <a:lumMod val="50000"/>
                  </a:schemeClr>
                </a:solidFill>
              </a:rPr>
              <a:t>siempre guardamos las observaciones originales</a:t>
            </a:r>
            <a:r>
              <a:rPr lang="es-ES" sz="2400" dirty="0" smtClean="0"/>
              <a:t>)</a:t>
            </a:r>
          </a:p>
          <a:p>
            <a:r>
              <a:rPr lang="es-ES" sz="2400" dirty="0" smtClean="0"/>
              <a:t>A veces hay una pausa larga entre dos periodos de observaciones en el mismo sitio o sitios cercanos. Se puede homogeneizar los datos con ACMANT como si serian de un solo periodo. Sin embargo, si la duración de pausa supera 5 años, no es recomendado usar tan serie como serie vecinal en la homogeneización de otras series (se debe dejar fuera la serie o cortar a dos partes).</a:t>
            </a:r>
            <a:endParaRPr lang="en-US" sz="2400" dirty="0"/>
          </a:p>
        </p:txBody>
      </p:sp>
    </p:spTree>
    <p:extLst>
      <p:ext uri="{BB962C8B-B14F-4D97-AF65-F5344CB8AC3E}">
        <p14:creationId xmlns:p14="http://schemas.microsoft.com/office/powerpoint/2010/main" val="26083342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z="3600" b="1" dirty="0" smtClean="0">
                <a:solidFill>
                  <a:srgbClr val="A50021"/>
                </a:solidFill>
                <a:cs typeface="Times New Roman" panose="02020603050405020304" pitchFamily="18" charset="0"/>
              </a:rPr>
              <a:t>Saltos coincidentes en un </a:t>
            </a:r>
            <a:r>
              <a:rPr lang="es-ES" sz="3600" b="1" dirty="0" err="1" smtClean="0">
                <a:solidFill>
                  <a:srgbClr val="A50021"/>
                </a:solidFill>
                <a:cs typeface="Times New Roman" panose="02020603050405020304" pitchFamily="18" charset="0"/>
              </a:rPr>
              <a:t>network</a:t>
            </a:r>
            <a:r>
              <a:rPr lang="es-ES" sz="3600" b="1" dirty="0" smtClean="0">
                <a:solidFill>
                  <a:srgbClr val="A50021"/>
                </a:solidFill>
                <a:cs typeface="Times New Roman" panose="02020603050405020304" pitchFamily="18" charset="0"/>
              </a:rPr>
              <a:t> entero</a:t>
            </a:r>
            <a:endParaRPr lang="en-US" sz="3600" dirty="0"/>
          </a:p>
        </p:txBody>
      </p:sp>
      <p:sp>
        <p:nvSpPr>
          <p:cNvPr id="3" name="Marcador de contenido 2"/>
          <p:cNvSpPr>
            <a:spLocks noGrp="1"/>
          </p:cNvSpPr>
          <p:nvPr>
            <p:ph idx="1"/>
          </p:nvPr>
        </p:nvSpPr>
        <p:spPr>
          <a:xfrm>
            <a:off x="591405" y="1654799"/>
            <a:ext cx="10972802" cy="4525963"/>
          </a:xfrm>
        </p:spPr>
        <p:txBody>
          <a:bodyPr/>
          <a:lstStyle/>
          <a:p>
            <a:r>
              <a:rPr lang="es-ES" sz="2200" dirty="0" smtClean="0"/>
              <a:t>En </a:t>
            </a:r>
            <a:r>
              <a:rPr lang="es-ES" sz="2200" dirty="0"/>
              <a:t>el caso óptimo el cambio técnico está controlado y cuantificado por observaciones paralelas</a:t>
            </a:r>
            <a:r>
              <a:rPr lang="es-ES" sz="2200" dirty="0" smtClean="0"/>
              <a:t>. En este caso las correcciones relacionadas se debe aplicar antes de correr ACMANT.</a:t>
            </a:r>
          </a:p>
          <a:p>
            <a:r>
              <a:rPr lang="es-ES" sz="2200" dirty="0" smtClean="0"/>
              <a:t>Si se conoce el hecho de cambio técnico generalizado, pero no hay observaciones paralelas, se puede buscar y usar series de datos no afectadas. Una solución es el uso de datos modelados, aunque esta opción a menudo no da resultados precisos. ACMANT se puede usar solo si hay al menos 3 series vecinales.</a:t>
            </a:r>
          </a:p>
          <a:p>
            <a:r>
              <a:rPr lang="es-ES" sz="2200" dirty="0" smtClean="0"/>
              <a:t>Si conocemos solo la fecha de los saltos coincidentes, y no hay series no afectadas para su homogeneización relativa, debemos anotar el problema. A veces se puede estimar el tamaño de saltos coincidentes desde datos de otros </a:t>
            </a:r>
            <a:r>
              <a:rPr lang="es-ES" sz="2200" dirty="0" err="1" smtClean="0"/>
              <a:t>networks</a:t>
            </a:r>
            <a:r>
              <a:rPr lang="es-ES" sz="2200" dirty="0" smtClean="0"/>
              <a:t>. </a:t>
            </a:r>
          </a:p>
          <a:p>
            <a:r>
              <a:rPr lang="es-ES" sz="2200" dirty="0" smtClean="0"/>
              <a:t>Si no hay metadato sobre este tipo de </a:t>
            </a:r>
            <a:r>
              <a:rPr lang="es-ES" sz="2200" dirty="0" err="1" smtClean="0"/>
              <a:t>inhomogeneidad</a:t>
            </a:r>
            <a:r>
              <a:rPr lang="es-ES" sz="2200" dirty="0" smtClean="0"/>
              <a:t> ACMANT no la detectará. </a:t>
            </a:r>
            <a:endParaRPr lang="en-US" sz="2200" dirty="0"/>
          </a:p>
        </p:txBody>
      </p:sp>
    </p:spTree>
    <p:extLst>
      <p:ext uri="{BB962C8B-B14F-4D97-AF65-F5344CB8AC3E}">
        <p14:creationId xmlns:p14="http://schemas.microsoft.com/office/powerpoint/2010/main" val="35047848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z="3600" b="1" dirty="0">
                <a:solidFill>
                  <a:srgbClr val="A50021"/>
                </a:solidFill>
                <a:cs typeface="Times New Roman" panose="02020603050405020304" pitchFamily="18" charset="0"/>
              </a:rPr>
              <a:t>Saltos </a:t>
            </a:r>
            <a:r>
              <a:rPr lang="es-ES" sz="3600" b="1" dirty="0" smtClean="0">
                <a:solidFill>
                  <a:srgbClr val="A50021"/>
                </a:solidFill>
                <a:cs typeface="Times New Roman" panose="02020603050405020304" pitchFamily="18" charset="0"/>
              </a:rPr>
              <a:t>coincidentes parciales</a:t>
            </a:r>
            <a:endParaRPr lang="en-US" sz="3600" dirty="0"/>
          </a:p>
        </p:txBody>
      </p:sp>
      <p:sp>
        <p:nvSpPr>
          <p:cNvPr id="3" name="Marcador de contenido 2"/>
          <p:cNvSpPr>
            <a:spLocks noGrp="1"/>
          </p:cNvSpPr>
          <p:nvPr>
            <p:ph idx="1"/>
          </p:nvPr>
        </p:nvSpPr>
        <p:spPr/>
        <p:txBody>
          <a:bodyPr/>
          <a:lstStyle/>
          <a:p>
            <a:r>
              <a:rPr lang="es-ES" sz="2200" dirty="0" smtClean="0"/>
              <a:t>Si más de 50% de las series son afectadas, y no hay metadato, es probable que las series correctas serán ajustadas a las series afectadas.</a:t>
            </a:r>
          </a:p>
          <a:p>
            <a:r>
              <a:rPr lang="es-ES" sz="2200" dirty="0" smtClean="0"/>
              <a:t>Si el ratio de series afectadas es de 40 a 60%, y no hay metadatos, la dirección de ajustes (afectados a correctos o al revés) es de casualidad</a:t>
            </a:r>
          </a:p>
          <a:p>
            <a:r>
              <a:rPr lang="es-ES" sz="2200" dirty="0" smtClean="0"/>
              <a:t>El uso automático de metadatos ayuda mucho, pero un control en modo interactivo es recomendado.</a:t>
            </a:r>
          </a:p>
          <a:p>
            <a:r>
              <a:rPr lang="es-ES" sz="2200" dirty="0"/>
              <a:t>S</a:t>
            </a:r>
            <a:r>
              <a:rPr lang="es-ES" sz="2200" dirty="0" smtClean="0"/>
              <a:t>e puede homogeneizar las series afectadas una por una con la exclusión de otras series afectadas en la edición de referencia serie (cuando hay suficiente número de series no afectadas)</a:t>
            </a:r>
          </a:p>
          <a:p>
            <a:r>
              <a:rPr lang="es-ES" sz="2200" dirty="0" smtClean="0"/>
              <a:t>Las coincidencias de saltos no siempre son precisas, unos pocos años de diferencias entre las fechas aun puede ser insuficiente para librarse de efectos coincidentes.    </a:t>
            </a:r>
            <a:endParaRPr lang="en-US" sz="2200" dirty="0"/>
          </a:p>
        </p:txBody>
      </p:sp>
    </p:spTree>
    <p:extLst>
      <p:ext uri="{BB962C8B-B14F-4D97-AF65-F5344CB8AC3E}">
        <p14:creationId xmlns:p14="http://schemas.microsoft.com/office/powerpoint/2010/main" val="2904455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z="3600" b="1" dirty="0" err="1" smtClean="0">
                <a:solidFill>
                  <a:srgbClr val="A50021"/>
                </a:solidFill>
                <a:cs typeface="Times New Roman" panose="02020603050405020304" pitchFamily="18" charset="0"/>
              </a:rPr>
              <a:t>Warning</a:t>
            </a:r>
            <a:r>
              <a:rPr lang="es-ES" sz="3600" b="1" dirty="0" smtClean="0">
                <a:solidFill>
                  <a:srgbClr val="A50021"/>
                </a:solidFill>
                <a:cs typeface="Times New Roman" panose="02020603050405020304" pitchFamily="18" charset="0"/>
              </a:rPr>
              <a:t> </a:t>
            </a:r>
            <a:r>
              <a:rPr lang="es-ES" sz="3600" b="1" dirty="0" err="1" smtClean="0">
                <a:solidFill>
                  <a:srgbClr val="A50021"/>
                </a:solidFill>
                <a:cs typeface="Times New Roman" panose="02020603050405020304" pitchFamily="18" charset="0"/>
              </a:rPr>
              <a:t>messages</a:t>
            </a:r>
            <a:endParaRPr lang="en-US" sz="3600" dirty="0"/>
          </a:p>
        </p:txBody>
      </p:sp>
      <p:sp>
        <p:nvSpPr>
          <p:cNvPr id="3" name="Marcador de contenido 2"/>
          <p:cNvSpPr>
            <a:spLocks noGrp="1"/>
          </p:cNvSpPr>
          <p:nvPr>
            <p:ph idx="1"/>
          </p:nvPr>
        </p:nvSpPr>
        <p:spPr/>
        <p:txBody>
          <a:bodyPr/>
          <a:lstStyle/>
          <a:p>
            <a:r>
              <a:rPr lang="es-ES" sz="2200" dirty="0" smtClean="0"/>
              <a:t>Cuando ACMANT detecta saltos coincidentes, manda un </a:t>
            </a:r>
            <a:r>
              <a:rPr lang="es-ES" sz="2200" dirty="0" err="1" smtClean="0"/>
              <a:t>warning</a:t>
            </a:r>
            <a:r>
              <a:rPr lang="es-ES" sz="2200" dirty="0" smtClean="0"/>
              <a:t> </a:t>
            </a:r>
            <a:r>
              <a:rPr lang="es-ES" sz="2200" dirty="0" err="1" smtClean="0"/>
              <a:t>message</a:t>
            </a:r>
            <a:r>
              <a:rPr lang="es-ES" sz="2200" dirty="0" smtClean="0"/>
              <a:t>.</a:t>
            </a:r>
          </a:p>
          <a:p>
            <a:r>
              <a:rPr lang="es-ES" sz="2200" dirty="0"/>
              <a:t>Diferentes factores pueden causar la percepción de saltos </a:t>
            </a:r>
            <a:r>
              <a:rPr lang="es-ES" sz="2200" dirty="0" smtClean="0"/>
              <a:t>coincidentes por ACMANT:</a:t>
            </a:r>
            <a:endParaRPr lang="es-ES" sz="2200" dirty="0"/>
          </a:p>
          <a:p>
            <a:pPr marL="0" indent="0">
              <a:spcBef>
                <a:spcPts val="0"/>
              </a:spcBef>
              <a:buNone/>
            </a:pPr>
            <a:r>
              <a:rPr lang="es-ES" sz="2200" dirty="0"/>
              <a:t>    -  C</a:t>
            </a:r>
            <a:r>
              <a:rPr lang="es-ES" sz="2200" dirty="0" smtClean="0"/>
              <a:t>asualidad, principalmente cuando el número de series es bajo</a:t>
            </a:r>
            <a:endParaRPr lang="es-ES" sz="2200" dirty="0"/>
          </a:p>
          <a:p>
            <a:pPr marL="0" indent="0">
              <a:spcBef>
                <a:spcPts val="0"/>
              </a:spcBef>
              <a:buNone/>
            </a:pPr>
            <a:r>
              <a:rPr lang="es-ES" sz="2200" dirty="0"/>
              <a:t>    -  Saltos coincidentes parciales verdaderos, pero ellos pueden causar </a:t>
            </a:r>
            <a:r>
              <a:rPr lang="es-ES" sz="2200" dirty="0" smtClean="0"/>
              <a:t>aún detección</a:t>
            </a:r>
            <a:endParaRPr lang="es-ES" sz="2200" dirty="0"/>
          </a:p>
          <a:p>
            <a:pPr marL="0" indent="0">
              <a:spcBef>
                <a:spcPts val="0"/>
              </a:spcBef>
              <a:buNone/>
            </a:pPr>
            <a:r>
              <a:rPr lang="es-ES" sz="2200" dirty="0"/>
              <a:t>       falsa en las series no afectadas (entonces la detección es por los</a:t>
            </a:r>
          </a:p>
          <a:p>
            <a:pPr marL="0" indent="0">
              <a:spcBef>
                <a:spcPts val="0"/>
              </a:spcBef>
              <a:buNone/>
            </a:pPr>
            <a:r>
              <a:rPr lang="es-ES" sz="2200" dirty="0"/>
              <a:t>       saltos en la referencia </a:t>
            </a:r>
            <a:r>
              <a:rPr lang="es-ES" sz="2200" dirty="0" smtClean="0"/>
              <a:t>serie</a:t>
            </a:r>
          </a:p>
          <a:p>
            <a:r>
              <a:rPr lang="es-ES" sz="2200" dirty="0" smtClean="0"/>
              <a:t>Si tenemos metadatos, podemos analizar los factores con ellos y interactuar con ACMANT</a:t>
            </a:r>
          </a:p>
          <a:p>
            <a:r>
              <a:rPr lang="es-ES" sz="2200" dirty="0" smtClean="0"/>
              <a:t>Si no hay metadatos, el mejor es aceptar los resultados de ACMANT y no intervenir</a:t>
            </a:r>
          </a:p>
          <a:p>
            <a:r>
              <a:rPr lang="es-ES" sz="2200" dirty="0" smtClean="0"/>
              <a:t>Excepcional razón para intervenir: climáticamente increíble resultados (ojo, algo que es inusual no es increíble) </a:t>
            </a:r>
          </a:p>
          <a:p>
            <a:pPr marL="0" indent="0">
              <a:buNone/>
            </a:pPr>
            <a:endParaRPr lang="en-US" sz="2200" dirty="0"/>
          </a:p>
        </p:txBody>
      </p:sp>
    </p:spTree>
    <p:extLst>
      <p:ext uri="{BB962C8B-B14F-4D97-AF65-F5344CB8AC3E}">
        <p14:creationId xmlns:p14="http://schemas.microsoft.com/office/powerpoint/2010/main" val="1992238888"/>
      </p:ext>
    </p:extLst>
  </p:cSld>
  <p:clrMapOvr>
    <a:masterClrMapping/>
  </p:clrMapOvr>
</p:sld>
</file>

<file path=ppt/theme/theme1.xml><?xml version="1.0" encoding="utf-8"?>
<a:theme xmlns:a="http://schemas.openxmlformats.org/drawingml/2006/main" name="1_Default Design">
  <a:themeElements>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4824</TotalTime>
  <Words>2665</Words>
  <Application>Microsoft Office PowerPoint</Application>
  <PresentationFormat>Panorámica</PresentationFormat>
  <Paragraphs>164</Paragraphs>
  <Slides>27</Slides>
  <Notes>1</Notes>
  <HiddenSlides>0</HiddenSlides>
  <MMClips>0</MMClips>
  <ScaleCrop>false</ScaleCrop>
  <HeadingPairs>
    <vt:vector size="6" baseType="variant">
      <vt:variant>
        <vt:lpstr>Fuentes usadas</vt:lpstr>
      </vt:variant>
      <vt:variant>
        <vt:i4>4</vt:i4>
      </vt:variant>
      <vt:variant>
        <vt:lpstr>Tema</vt:lpstr>
      </vt:variant>
      <vt:variant>
        <vt:i4>2</vt:i4>
      </vt:variant>
      <vt:variant>
        <vt:lpstr>Títulos de diapositiva</vt:lpstr>
      </vt:variant>
      <vt:variant>
        <vt:i4>27</vt:i4>
      </vt:variant>
    </vt:vector>
  </HeadingPairs>
  <TitlesOfParts>
    <vt:vector size="33" baseType="lpstr">
      <vt:lpstr>Arial</vt:lpstr>
      <vt:lpstr>Calibri</vt:lpstr>
      <vt:lpstr>Calibri Light</vt:lpstr>
      <vt:lpstr>Times New Roman</vt:lpstr>
      <vt:lpstr>1_Default Design</vt:lpstr>
      <vt:lpstr>Tema de Office</vt:lpstr>
      <vt:lpstr>Efectos de cambios técnicos a las series  de datos climáticos observados </vt:lpstr>
      <vt:lpstr>Homogeneización relativa: objetivo principal</vt:lpstr>
      <vt:lpstr>Homogeneización de series climáticas: particularidades del modelismo estadístico</vt:lpstr>
      <vt:lpstr>Homogeneización: tarea complicada (?)</vt:lpstr>
      <vt:lpstr>Frecuencia de saltos detectados, EE.UU.</vt:lpstr>
      <vt:lpstr>Homogeneización relativa</vt:lpstr>
      <vt:lpstr>Trampa: Evaluar saltos uno-por-uno</vt:lpstr>
      <vt:lpstr>Tipos de tareas de homogeneización</vt:lpstr>
      <vt:lpstr>ACMANTv6 atributos principales </vt:lpstr>
      <vt:lpstr>ACMANT en el mundo de homogeneización</vt:lpstr>
      <vt:lpstr>ACMANTv6 Condiciones del uso</vt:lpstr>
      <vt:lpstr>ACMANTv6 atributos</vt:lpstr>
      <vt:lpstr>ACMANTv6 Esquema</vt:lpstr>
      <vt:lpstr>Ensemble homogenización  con estimación de la amplitud de incertidumbre</vt:lpstr>
      <vt:lpstr>Preparación de datos climáticos</vt:lpstr>
      <vt:lpstr>Items opcionales del input</vt:lpstr>
      <vt:lpstr>Contenido del output estándar</vt:lpstr>
      <vt:lpstr>https://github.com/dpeterfree/ACMANT/tree/ACMANTv6</vt:lpstr>
      <vt:lpstr>Items opcionales del output</vt:lpstr>
      <vt:lpstr>Relleno de dato lagunas por ACMANT</vt:lpstr>
      <vt:lpstr>Uso de metadatos en modo automático</vt:lpstr>
      <vt:lpstr>Uso de metadatos en modo automático</vt:lpstr>
      <vt:lpstr>Irregularidades en el input dato base</vt:lpstr>
      <vt:lpstr>Preparación de series: unir o cortar?</vt:lpstr>
      <vt:lpstr>Saltos coincidentes en un network entero</vt:lpstr>
      <vt:lpstr>Saltos coincidentes parciales</vt:lpstr>
      <vt:lpstr>Warning messages</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MDPI</dc:creator>
  <cp:lastModifiedBy>Cuenta Microsoft</cp:lastModifiedBy>
  <cp:revision>312</cp:revision>
  <dcterms:created xsi:type="dcterms:W3CDTF">2017-03-26T08:03:22Z</dcterms:created>
  <dcterms:modified xsi:type="dcterms:W3CDTF">2025-11-17T16:32:19Z</dcterms:modified>
</cp:coreProperties>
</file>